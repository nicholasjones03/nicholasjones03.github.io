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296" r:id="rId5"/>
    <p:sldId id="302" r:id="rId6"/>
    <p:sldId id="301" r:id="rId7"/>
    <p:sldId id="263" r:id="rId8"/>
    <p:sldId id="303" r:id="rId9"/>
    <p:sldId id="300" r:id="rId10"/>
    <p:sldId id="261" r:id="rId11"/>
    <p:sldId id="285" r:id="rId12"/>
    <p:sldId id="265" r:id="rId13"/>
    <p:sldId id="304" r:id="rId14"/>
    <p:sldId id="306" r:id="rId15"/>
    <p:sldId id="305" r:id="rId16"/>
    <p:sldId id="287" r:id="rId17"/>
    <p:sldId id="30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87" autoAdjust="0"/>
  </p:normalViewPr>
  <p:slideViewPr>
    <p:cSldViewPr snapToGrid="0" showGuides="1">
      <p:cViewPr varScale="1">
        <p:scale>
          <a:sx n="89" d="100"/>
          <a:sy n="89" d="100"/>
        </p:scale>
        <p:origin x="1434" y="30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5" qsCatId="simple" csTypeId="urn:microsoft.com/office/officeart/2005/8/colors/accent1_2" csCatId="accent1" phldr="1"/>
      <dgm:spPr/>
      <dgm:t>
        <a:bodyPr/>
        <a:lstStyle/>
        <a:p>
          <a:endParaRPr lang="en-US"/>
        </a:p>
      </dgm:t>
    </dgm:pt>
    <dgm:pt modelId="{A8C03FBB-4A75-4460-AEA6-DEAEB9C61496}">
      <dgm:prSet phldrT="[Text]" phldr="0"/>
      <dgm:spPr/>
      <dgm:t>
        <a:bodyPr/>
        <a:lstStyle/>
        <a:p>
          <a:pPr>
            <a:defRPr b="1"/>
          </a:pPr>
          <a:r>
            <a:rPr lang="en-US" dirty="0">
              <a:solidFill>
                <a:schemeClr val="accent2">
                  <a:lumMod val="25000"/>
                </a:schemeClr>
              </a:solidFill>
              <a:latin typeface="+mn-lt"/>
            </a:rPr>
            <a:t>Usually 1-6 years</a:t>
          </a:r>
        </a:p>
      </dgm:t>
    </dgm:pt>
    <dgm:pt modelId="{4E972F7F-4B1B-47AA-A25B-1FFC561F1C76}" type="parTrans" cxnId="{D3D81948-D963-4D1E-AE16-9705EAF510FC}">
      <dgm:prSet/>
      <dgm:spPr/>
      <dgm:t>
        <a:bodyPr/>
        <a:lstStyle/>
        <a:p>
          <a:endParaRPr lang="en-US">
            <a:latin typeface="+mn-lt"/>
          </a:endParaRPr>
        </a:p>
      </dgm:t>
    </dgm:pt>
    <dgm:pt modelId="{67361508-930A-4A23-8CFC-BB56DA645C3C}" type="sibTrans" cxnId="{D3D81948-D963-4D1E-AE16-9705EAF510FC}">
      <dgm:prSet/>
      <dgm:spPr/>
      <dgm:t>
        <a:bodyPr/>
        <a:lstStyle/>
        <a:p>
          <a:endParaRPr lang="en-US">
            <a:latin typeface="+mn-lt"/>
          </a:endParaRPr>
        </a:p>
      </dgm:t>
    </dgm:pt>
    <dgm:pt modelId="{5E71F362-34DF-4EEC-92A3-0EFE450E05E4}">
      <dgm:prSet phldrT="[Text]" phldr="0" custT="1"/>
      <dgm:spPr>
        <a:solidFill>
          <a:schemeClr val="accent3">
            <a:alpha val="90000"/>
          </a:schemeClr>
        </a:solidFill>
      </dgm:spPr>
      <dgm:t>
        <a:bodyPr/>
        <a:lstStyle/>
        <a:p>
          <a:pPr algn="ctr"/>
          <a:r>
            <a:rPr lang="en-US" sz="1800" dirty="0">
              <a:solidFill>
                <a:schemeClr val="accent2">
                  <a:lumMod val="25000"/>
                </a:schemeClr>
              </a:solidFill>
              <a:latin typeface="+mn-lt"/>
            </a:rPr>
            <a:t>Preclinical Trialing</a:t>
          </a:r>
        </a:p>
      </dgm:t>
    </dgm:pt>
    <dgm:pt modelId="{8E5EE4D1-908E-455C-B8B3-281AD42DEC9A}" type="parTrans" cxnId="{B99CA6C9-28D1-4DDB-B8EC-AED73AD115CA}">
      <dgm:prSet/>
      <dgm:spPr/>
      <dgm:t>
        <a:bodyPr/>
        <a:lstStyle/>
        <a:p>
          <a:endParaRPr lang="en-US">
            <a:latin typeface="+mn-lt"/>
          </a:endParaRPr>
        </a:p>
      </dgm:t>
    </dgm:pt>
    <dgm:pt modelId="{B208B24A-E9FD-40A9-B764-FB7C2B7ED8B9}" type="sibTrans" cxnId="{B99CA6C9-28D1-4DDB-B8EC-AED73AD115CA}">
      <dgm:prSet/>
      <dgm:spPr/>
      <dgm:t>
        <a:bodyPr/>
        <a:lstStyle/>
        <a:p>
          <a:endParaRPr lang="en-US">
            <a:latin typeface="+mn-lt"/>
          </a:endParaRPr>
        </a:p>
      </dgm:t>
    </dgm:pt>
    <dgm:pt modelId="{91969DED-4CB8-4A14-A50B-3F7B848E46B5}">
      <dgm:prSet phldrT="[Text]" phldr="0"/>
      <dgm:spPr/>
      <dgm:t>
        <a:bodyPr/>
        <a:lstStyle/>
        <a:p>
          <a:pPr>
            <a:defRPr b="1"/>
          </a:pPr>
          <a:r>
            <a:rPr lang="en-US" dirty="0">
              <a:solidFill>
                <a:schemeClr val="accent2">
                  <a:lumMod val="25000"/>
                </a:schemeClr>
              </a:solidFill>
              <a:latin typeface="+mn-lt"/>
            </a:rPr>
            <a:t>Several Months</a:t>
          </a:r>
        </a:p>
      </dgm:t>
    </dgm:pt>
    <dgm:pt modelId="{441CD73D-85E1-42A6-BCF8-362A3247E2F3}" type="parTrans" cxnId="{537F2ED0-8BD0-4AD5-B60D-89B660EDA1AC}">
      <dgm:prSet/>
      <dgm:spPr/>
      <dgm:t>
        <a:bodyPr/>
        <a:lstStyle/>
        <a:p>
          <a:endParaRPr lang="en-US">
            <a:latin typeface="+mn-lt"/>
          </a:endParaRPr>
        </a:p>
      </dgm:t>
    </dgm:pt>
    <dgm:pt modelId="{81CA8AA2-C0C3-4381-BA8B-413EDD578B83}" type="sibTrans" cxnId="{537F2ED0-8BD0-4AD5-B60D-89B660EDA1AC}">
      <dgm:prSet/>
      <dgm:spPr/>
      <dgm:t>
        <a:bodyPr/>
        <a:lstStyle/>
        <a:p>
          <a:endParaRPr lang="en-US">
            <a:latin typeface="+mn-lt"/>
          </a:endParaRPr>
        </a:p>
      </dgm:t>
    </dgm:pt>
    <dgm:pt modelId="{8A04F340-E8E1-4146-9905-E7ADCAEAABD7}">
      <dgm:prSet phldrT="[Text]" phldr="0" custT="1"/>
      <dgm:spPr>
        <a:solidFill>
          <a:schemeClr val="accent3">
            <a:alpha val="90000"/>
          </a:schemeClr>
        </a:solidFill>
      </dgm:spPr>
      <dgm:t>
        <a:bodyPr/>
        <a:lstStyle/>
        <a:p>
          <a:pPr algn="ctr"/>
          <a:r>
            <a:rPr lang="en-US" sz="1800" dirty="0">
              <a:solidFill>
                <a:schemeClr val="accent2">
                  <a:lumMod val="25000"/>
                </a:schemeClr>
              </a:solidFill>
              <a:latin typeface="+mn-lt"/>
            </a:rPr>
            <a:t>Phase 1</a:t>
          </a:r>
        </a:p>
      </dgm:t>
    </dgm:pt>
    <dgm:pt modelId="{4EBD5EC2-45ED-4ED6-8376-97D155A911AE}" type="parTrans" cxnId="{E636BFFB-0404-4D4B-B3F0-C64FDFD9DDEF}">
      <dgm:prSet/>
      <dgm:spPr/>
      <dgm:t>
        <a:bodyPr/>
        <a:lstStyle/>
        <a:p>
          <a:endParaRPr lang="en-US">
            <a:latin typeface="+mn-lt"/>
          </a:endParaRPr>
        </a:p>
      </dgm:t>
    </dgm:pt>
    <dgm:pt modelId="{F9CD2A04-6A34-4104-A971-391788B88F55}" type="sibTrans" cxnId="{E636BFFB-0404-4D4B-B3F0-C64FDFD9DDEF}">
      <dgm:prSet/>
      <dgm:spPr/>
      <dgm:t>
        <a:bodyPr/>
        <a:lstStyle/>
        <a:p>
          <a:endParaRPr lang="en-US">
            <a:latin typeface="+mn-lt"/>
          </a:endParaRPr>
        </a:p>
      </dgm:t>
    </dgm:pt>
    <dgm:pt modelId="{3CC73758-10C1-47F8-AFA7-1A986D4DDD60}">
      <dgm:prSet phldrT="[Text]" phldr="0"/>
      <dgm:spPr/>
      <dgm:t>
        <a:bodyPr/>
        <a:lstStyle/>
        <a:p>
          <a:pPr>
            <a:defRPr b="1"/>
          </a:pPr>
          <a:r>
            <a:rPr lang="en-US" dirty="0">
              <a:solidFill>
                <a:schemeClr val="accent2">
                  <a:lumMod val="25000"/>
                </a:schemeClr>
              </a:solidFill>
              <a:latin typeface="+mn-lt"/>
            </a:rPr>
            <a:t>Several Months- 2 Years</a:t>
          </a:r>
        </a:p>
      </dgm:t>
    </dgm:pt>
    <dgm:pt modelId="{FF6AE4B6-4A2F-49EE-9316-9AF55E77838B}" type="parTrans" cxnId="{4A69F85D-5C15-48FD-893A-B3050E1BADEB}">
      <dgm:prSet/>
      <dgm:spPr/>
      <dgm:t>
        <a:bodyPr/>
        <a:lstStyle/>
        <a:p>
          <a:endParaRPr lang="en-US">
            <a:latin typeface="+mn-lt"/>
          </a:endParaRPr>
        </a:p>
      </dgm:t>
    </dgm:pt>
    <dgm:pt modelId="{D8170BBA-6035-4773-8431-FEDD687647FF}" type="sibTrans" cxnId="{4A69F85D-5C15-48FD-893A-B3050E1BADEB}">
      <dgm:prSet/>
      <dgm:spPr/>
      <dgm:t>
        <a:bodyPr/>
        <a:lstStyle/>
        <a:p>
          <a:endParaRPr lang="en-US">
            <a:latin typeface="+mn-lt"/>
          </a:endParaRPr>
        </a:p>
      </dgm:t>
    </dgm:pt>
    <dgm:pt modelId="{FD9CA14A-483C-4869-B0C1-7C5FB7EEDBCC}">
      <dgm:prSet phldrT="[Text]" phldr="0" custT="1"/>
      <dgm:spPr>
        <a:solidFill>
          <a:schemeClr val="accent3">
            <a:alpha val="90000"/>
          </a:schemeClr>
        </a:solidFill>
      </dgm:spPr>
      <dgm:t>
        <a:bodyPr/>
        <a:lstStyle/>
        <a:p>
          <a:pPr algn="ctr"/>
          <a:r>
            <a:rPr lang="en-US" sz="1800" dirty="0">
              <a:solidFill>
                <a:schemeClr val="accent2">
                  <a:lumMod val="25000"/>
                </a:schemeClr>
              </a:solidFill>
              <a:latin typeface="+mn-lt"/>
            </a:rPr>
            <a:t>Phase 2</a:t>
          </a:r>
        </a:p>
      </dgm:t>
    </dgm:pt>
    <dgm:pt modelId="{8182A92F-45BA-4CD1-8E43-0B0810A50FEB}" type="parTrans" cxnId="{5EDA943F-300F-408A-A52E-3D5140FD5C22}">
      <dgm:prSet/>
      <dgm:spPr/>
      <dgm:t>
        <a:bodyPr/>
        <a:lstStyle/>
        <a:p>
          <a:endParaRPr lang="en-US">
            <a:latin typeface="+mn-lt"/>
          </a:endParaRPr>
        </a:p>
      </dgm:t>
    </dgm:pt>
    <dgm:pt modelId="{914BB93C-EA8A-4B5B-8F06-30DA7C7F4B7B}" type="sibTrans" cxnId="{5EDA943F-300F-408A-A52E-3D5140FD5C22}">
      <dgm:prSet/>
      <dgm:spPr/>
      <dgm:t>
        <a:bodyPr/>
        <a:lstStyle/>
        <a:p>
          <a:endParaRPr lang="en-US">
            <a:latin typeface="+mn-lt"/>
          </a:endParaRPr>
        </a:p>
      </dgm:t>
    </dgm:pt>
    <dgm:pt modelId="{D2FE027B-4161-41E1-B4D4-02AECB2E3FA0}">
      <dgm:prSet phldrT="[Text]" phldr="0"/>
      <dgm:spPr/>
      <dgm:t>
        <a:bodyPr/>
        <a:lstStyle/>
        <a:p>
          <a:pPr>
            <a:defRPr b="1"/>
          </a:pPr>
          <a:r>
            <a:rPr lang="en-US" dirty="0">
              <a:solidFill>
                <a:schemeClr val="accent2">
                  <a:lumMod val="25000"/>
                </a:schemeClr>
              </a:solidFill>
              <a:latin typeface="+mn-lt"/>
            </a:rPr>
            <a:t>1-4 Years</a:t>
          </a:r>
        </a:p>
      </dgm:t>
    </dgm:pt>
    <dgm:pt modelId="{88680CFE-3CE0-4842-B3D3-716D3B671238}" type="parTrans" cxnId="{4F4F82A2-02F1-492B-96C1-46C070BEFCE3}">
      <dgm:prSet/>
      <dgm:spPr/>
      <dgm:t>
        <a:bodyPr/>
        <a:lstStyle/>
        <a:p>
          <a:endParaRPr lang="en-US">
            <a:latin typeface="+mn-lt"/>
          </a:endParaRPr>
        </a:p>
      </dgm:t>
    </dgm:pt>
    <dgm:pt modelId="{4D59E06B-629C-40B5-96D3-423B7A56C945}" type="sibTrans" cxnId="{4F4F82A2-02F1-492B-96C1-46C070BEFCE3}">
      <dgm:prSet/>
      <dgm:spPr/>
      <dgm:t>
        <a:bodyPr/>
        <a:lstStyle/>
        <a:p>
          <a:endParaRPr lang="en-US">
            <a:latin typeface="+mn-lt"/>
          </a:endParaRPr>
        </a:p>
      </dgm:t>
    </dgm:pt>
    <dgm:pt modelId="{2BE415B7-7185-4956-8487-237B40BC0EE5}">
      <dgm:prSet phldrT="[Text]" phldr="0" custT="1"/>
      <dgm:spPr>
        <a:solidFill>
          <a:schemeClr val="accent3">
            <a:alpha val="90000"/>
          </a:schemeClr>
        </a:solidFill>
      </dgm:spPr>
      <dgm:t>
        <a:bodyPr/>
        <a:lstStyle/>
        <a:p>
          <a:pPr algn="ctr"/>
          <a:r>
            <a:rPr lang="en-US" sz="1800" dirty="0">
              <a:solidFill>
                <a:schemeClr val="accent2">
                  <a:lumMod val="25000"/>
                </a:schemeClr>
              </a:solidFill>
              <a:latin typeface="+mn-lt"/>
            </a:rPr>
            <a:t>Phase 3</a:t>
          </a:r>
        </a:p>
      </dgm:t>
    </dgm:pt>
    <dgm:pt modelId="{A38E847E-0D1D-4F40-9A71-4D5999ADE08B}" type="parTrans" cxnId="{CB32A309-9CA9-4554-941D-519A91A9E733}">
      <dgm:prSet/>
      <dgm:spPr/>
      <dgm:t>
        <a:bodyPr/>
        <a:lstStyle/>
        <a:p>
          <a:endParaRPr lang="en-US">
            <a:latin typeface="+mn-lt"/>
          </a:endParaRPr>
        </a:p>
      </dgm:t>
    </dgm:pt>
    <dgm:pt modelId="{F0D1C61C-E3F2-49BA-A2D8-C04A81308E5D}" type="sibTrans" cxnId="{CB32A309-9CA9-4554-941D-519A91A9E733}">
      <dgm:prSet/>
      <dgm:spPr/>
      <dgm:t>
        <a:bodyPr/>
        <a:lstStyle/>
        <a:p>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1">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custScaleY="14241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1">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1">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1">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2272553"/>
          <a:ext cx="6078070" cy="0"/>
        </a:xfrm>
        <a:prstGeom prst="line">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tailEnd type="triangle" w="lg" len="lg"/>
        </a:ln>
        <a:effectLst/>
      </dsp:spPr>
      <dsp:style>
        <a:lnRef idx="1">
          <a:scrgbClr r="0" g="0" b="0"/>
        </a:lnRef>
        <a:fillRef idx="1">
          <a:scrgbClr r="0" g="0" b="0"/>
        </a:fillRef>
        <a:effectRef idx="2">
          <a:scrgbClr r="0" g="0" b="0"/>
        </a:effectRef>
        <a:fontRef idx="minor"/>
      </dsp:style>
    </dsp:sp>
    <dsp:sp modelId="{FE5C7F33-9326-49FB-89A3-8A20163AD994}">
      <dsp:nvSpPr>
        <dsp:cNvPr id="0" name=""/>
        <dsp:cNvSpPr/>
      </dsp:nvSpPr>
      <dsp:spPr>
        <a:xfrm>
          <a:off x="134827" y="2440722"/>
          <a:ext cx="1950918" cy="51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solidFill>
                <a:schemeClr val="accent2">
                  <a:lumMod val="25000"/>
                </a:schemeClr>
              </a:solidFill>
              <a:latin typeface="+mn-lt"/>
            </a:rPr>
            <a:t>Usually 1-6 years</a:t>
          </a:r>
        </a:p>
      </dsp:txBody>
      <dsp:txXfrm>
        <a:off x="134827" y="2440722"/>
        <a:ext cx="1950918" cy="513597"/>
      </dsp:txXfrm>
    </dsp:sp>
    <dsp:sp modelId="{BA29120C-7C6B-4F62-9079-4AD528BC0744}">
      <dsp:nvSpPr>
        <dsp:cNvPr id="0" name=""/>
        <dsp:cNvSpPr/>
      </dsp:nvSpPr>
      <dsp:spPr>
        <a:xfrm>
          <a:off x="1810" y="634042"/>
          <a:ext cx="2216952" cy="774940"/>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2">
                  <a:lumMod val="25000"/>
                </a:schemeClr>
              </a:solidFill>
              <a:latin typeface="+mn-lt"/>
            </a:rPr>
            <a:t>Preclinical Trialing</a:t>
          </a:r>
        </a:p>
      </dsp:txBody>
      <dsp:txXfrm>
        <a:off x="39639" y="671871"/>
        <a:ext cx="2141294" cy="699282"/>
      </dsp:txXfrm>
    </dsp:sp>
    <dsp:sp modelId="{A95DB80B-444A-4D69-B205-3A801BB8524A}">
      <dsp:nvSpPr>
        <dsp:cNvPr id="0" name=""/>
        <dsp:cNvSpPr/>
      </dsp:nvSpPr>
      <dsp:spPr>
        <a:xfrm>
          <a:off x="1110286" y="1408983"/>
          <a:ext cx="0" cy="863570"/>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420659" y="1481868"/>
          <a:ext cx="1950918" cy="731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kern="1200" dirty="0">
              <a:solidFill>
                <a:schemeClr val="accent2">
                  <a:lumMod val="25000"/>
                </a:schemeClr>
              </a:solidFill>
              <a:latin typeface="+mn-lt"/>
            </a:rPr>
            <a:t>Several Months</a:t>
          </a:r>
        </a:p>
      </dsp:txBody>
      <dsp:txXfrm>
        <a:off x="1420659" y="1481868"/>
        <a:ext cx="1950918" cy="731434"/>
      </dsp:txXfrm>
    </dsp:sp>
    <dsp:sp modelId="{FA19A0AA-8B0B-4AA8-A80D-08CFFDD3F112}">
      <dsp:nvSpPr>
        <dsp:cNvPr id="0" name=""/>
        <dsp:cNvSpPr/>
      </dsp:nvSpPr>
      <dsp:spPr>
        <a:xfrm>
          <a:off x="1076198" y="2238465"/>
          <a:ext cx="68176" cy="6817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DADAA0C9-3E42-4088-8622-30E9F6EA139A}">
      <dsp:nvSpPr>
        <dsp:cNvPr id="0" name=""/>
        <dsp:cNvSpPr/>
      </dsp:nvSpPr>
      <dsp:spPr>
        <a:xfrm>
          <a:off x="1287642" y="3136123"/>
          <a:ext cx="2216952" cy="774940"/>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2">
                  <a:lumMod val="25000"/>
                </a:schemeClr>
              </a:solidFill>
              <a:latin typeface="+mn-lt"/>
            </a:rPr>
            <a:t>Phase 1</a:t>
          </a:r>
        </a:p>
      </dsp:txBody>
      <dsp:txXfrm>
        <a:off x="1325471" y="3173952"/>
        <a:ext cx="2141294" cy="699282"/>
      </dsp:txXfrm>
    </dsp:sp>
    <dsp:sp modelId="{DBD74D6B-057A-432C-9067-BF618C19EB2A}">
      <dsp:nvSpPr>
        <dsp:cNvPr id="0" name=""/>
        <dsp:cNvSpPr/>
      </dsp:nvSpPr>
      <dsp:spPr>
        <a:xfrm>
          <a:off x="2396118" y="2272553"/>
          <a:ext cx="0" cy="863570"/>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2706492" y="2440722"/>
          <a:ext cx="1950918" cy="51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solidFill>
                <a:schemeClr val="accent2">
                  <a:lumMod val="25000"/>
                </a:schemeClr>
              </a:solidFill>
              <a:latin typeface="+mn-lt"/>
            </a:rPr>
            <a:t>Several Months- 2 Years</a:t>
          </a:r>
        </a:p>
      </dsp:txBody>
      <dsp:txXfrm>
        <a:off x="2706492" y="2440722"/>
        <a:ext cx="1950918" cy="513597"/>
      </dsp:txXfrm>
    </dsp:sp>
    <dsp:sp modelId="{0F979253-FD39-4920-BFCA-78C564B167EA}">
      <dsp:nvSpPr>
        <dsp:cNvPr id="0" name=""/>
        <dsp:cNvSpPr/>
      </dsp:nvSpPr>
      <dsp:spPr>
        <a:xfrm>
          <a:off x="2362030" y="2238465"/>
          <a:ext cx="68176" cy="6817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0D48281-565D-47A3-9B6C-576231178549}">
      <dsp:nvSpPr>
        <dsp:cNvPr id="0" name=""/>
        <dsp:cNvSpPr/>
      </dsp:nvSpPr>
      <dsp:spPr>
        <a:xfrm>
          <a:off x="2573475" y="634042"/>
          <a:ext cx="2216952" cy="774940"/>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2">
                  <a:lumMod val="25000"/>
                </a:schemeClr>
              </a:solidFill>
              <a:latin typeface="+mn-lt"/>
            </a:rPr>
            <a:t>Phase 2</a:t>
          </a:r>
        </a:p>
      </dsp:txBody>
      <dsp:txXfrm>
        <a:off x="2611304" y="671871"/>
        <a:ext cx="2141294" cy="699282"/>
      </dsp:txXfrm>
    </dsp:sp>
    <dsp:sp modelId="{DCAE8A46-752C-4E82-84CE-E790E1F2918E}">
      <dsp:nvSpPr>
        <dsp:cNvPr id="0" name=""/>
        <dsp:cNvSpPr/>
      </dsp:nvSpPr>
      <dsp:spPr>
        <a:xfrm>
          <a:off x="3681951" y="1408983"/>
          <a:ext cx="0" cy="863570"/>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3992324" y="1590787"/>
          <a:ext cx="1950918" cy="513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kern="1200" dirty="0">
              <a:solidFill>
                <a:schemeClr val="accent2">
                  <a:lumMod val="25000"/>
                </a:schemeClr>
              </a:solidFill>
              <a:latin typeface="+mn-lt"/>
            </a:rPr>
            <a:t>1-4 Years</a:t>
          </a:r>
        </a:p>
      </dsp:txBody>
      <dsp:txXfrm>
        <a:off x="3992324" y="1590787"/>
        <a:ext cx="1950918" cy="513597"/>
      </dsp:txXfrm>
    </dsp:sp>
    <dsp:sp modelId="{B6459BF8-D2C3-4018-9C28-98667DC203F4}">
      <dsp:nvSpPr>
        <dsp:cNvPr id="0" name=""/>
        <dsp:cNvSpPr/>
      </dsp:nvSpPr>
      <dsp:spPr>
        <a:xfrm>
          <a:off x="3647862" y="2238465"/>
          <a:ext cx="68176" cy="6817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C3A59BD-6D45-4573-B098-8CB5207F194D}">
      <dsp:nvSpPr>
        <dsp:cNvPr id="0" name=""/>
        <dsp:cNvSpPr/>
      </dsp:nvSpPr>
      <dsp:spPr>
        <a:xfrm>
          <a:off x="3859307" y="3136123"/>
          <a:ext cx="2216952" cy="774940"/>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2">
                  <a:lumMod val="25000"/>
                </a:schemeClr>
              </a:solidFill>
              <a:latin typeface="+mn-lt"/>
            </a:rPr>
            <a:t>Phase 3</a:t>
          </a:r>
        </a:p>
      </dsp:txBody>
      <dsp:txXfrm>
        <a:off x="3897136" y="3173952"/>
        <a:ext cx="2141294" cy="699282"/>
      </dsp:txXfrm>
    </dsp:sp>
    <dsp:sp modelId="{086FB9B1-82B2-4197-8B33-6E7FF94F8D2E}">
      <dsp:nvSpPr>
        <dsp:cNvPr id="0" name=""/>
        <dsp:cNvSpPr/>
      </dsp:nvSpPr>
      <dsp:spPr>
        <a:xfrm>
          <a:off x="4967783" y="2272553"/>
          <a:ext cx="0" cy="863570"/>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4933695" y="2238465"/>
          <a:ext cx="68176" cy="6817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10/31/2025</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10/31/2025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442190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4</a:t>
            </a:fld>
            <a:endParaRPr lang="en-US" noProof="0" dirty="0"/>
          </a:p>
        </p:txBody>
      </p:sp>
    </p:spTree>
    <p:extLst>
      <p:ext uri="{BB962C8B-B14F-4D97-AF65-F5344CB8AC3E}">
        <p14:creationId xmlns:p14="http://schemas.microsoft.com/office/powerpoint/2010/main" val="2087002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5</a:t>
            </a:fld>
            <a:endParaRPr lang="en-US" noProof="0" dirty="0"/>
          </a:p>
        </p:txBody>
      </p:sp>
    </p:spTree>
    <p:extLst>
      <p:ext uri="{BB962C8B-B14F-4D97-AF65-F5344CB8AC3E}">
        <p14:creationId xmlns:p14="http://schemas.microsoft.com/office/powerpoint/2010/main" val="2961605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5.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5.sv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hyperlink" Target="https://pmc.ncbi.nlm.nih.gov/articles/PMC11510778/#sec2-pharmaceutics-16-01328" TargetMode="External"/><Relationship Id="rId2" Type="http://schemas.openxmlformats.org/officeDocument/2006/relationships/hyperlink" Target="https://ir.abivax.com/financial-information/sec-filings" TargetMode="External"/><Relationship Id="rId1" Type="http://schemas.openxmlformats.org/officeDocument/2006/relationships/slideLayout" Target="../slideLayouts/slideLayout13.xml"/><Relationship Id="rId4" Type="http://schemas.openxmlformats.org/officeDocument/2006/relationships/hyperlink" Target="https://www.sciencedirect.com/science/article/pii/S135964462030537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F7BD-FE81-4B20-8DC5-0B3EB736F9F8}"/>
              </a:ext>
            </a:extLst>
          </p:cNvPr>
          <p:cNvSpPr>
            <a:spLocks noGrp="1"/>
          </p:cNvSpPr>
          <p:nvPr>
            <p:ph type="ctrTitle"/>
          </p:nvPr>
        </p:nvSpPr>
        <p:spPr>
          <a:xfrm>
            <a:off x="612648" y="502920"/>
            <a:ext cx="10954512" cy="3246120"/>
          </a:xfrm>
        </p:spPr>
        <p:txBody>
          <a:bodyPr anchor="b"/>
          <a:lstStyle/>
          <a:p>
            <a:r>
              <a:rPr lang="en-US" dirty="0"/>
              <a:t>Using Data Science in Biotech and Drug Discovery</a:t>
            </a:r>
          </a:p>
        </p:txBody>
      </p:sp>
      <p:sp>
        <p:nvSpPr>
          <p:cNvPr id="3" name="Subtitle 2">
            <a:extLst>
              <a:ext uri="{FF2B5EF4-FFF2-40B4-BE49-F238E27FC236}">
                <a16:creationId xmlns:a16="http://schemas.microsoft.com/office/drawing/2014/main" id="{1AFF0EFE-C50F-44EB-8978-B97795477C9E}"/>
              </a:ext>
            </a:extLst>
          </p:cNvPr>
          <p:cNvSpPr>
            <a:spLocks noGrp="1"/>
          </p:cNvSpPr>
          <p:nvPr>
            <p:ph type="subTitle" idx="1"/>
          </p:nvPr>
        </p:nvSpPr>
        <p:spPr>
          <a:xfrm>
            <a:off x="612648" y="3908790"/>
            <a:ext cx="10954512" cy="1307592"/>
          </a:xfrm>
        </p:spPr>
        <p:txBody>
          <a:bodyPr vert="horz" lIns="91440" tIns="45720" rIns="91440" bIns="45720" rtlCol="0" anchor="t">
            <a:noAutofit/>
          </a:bodyPr>
          <a:lstStyle/>
          <a:p>
            <a:r>
              <a:rPr lang="en-US" dirty="0"/>
              <a:t>Presented by Nicholas Jones (</a:t>
            </a:r>
            <a:r>
              <a:rPr lang="en-US" dirty="0" err="1"/>
              <a:t>DSNow</a:t>
            </a:r>
            <a:r>
              <a:rPr lang="en-US" dirty="0"/>
              <a:t> #9)</a:t>
            </a:r>
          </a:p>
          <a:p>
            <a:r>
              <a:rPr lang="en-US" sz="1600" dirty="0">
                <a:highlight>
                  <a:srgbClr val="FF0000"/>
                </a:highlight>
              </a:rPr>
              <a:t>Disclaimer: NOT Investment advice</a:t>
            </a:r>
          </a:p>
        </p:txBody>
      </p:sp>
    </p:spTree>
    <p:extLst>
      <p:ext uri="{BB962C8B-B14F-4D97-AF65-F5344CB8AC3E}">
        <p14:creationId xmlns:p14="http://schemas.microsoft.com/office/powerpoint/2010/main" val="128263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07616-702C-0C53-D764-B6EFF8DA285F}"/>
              </a:ext>
            </a:extLst>
          </p:cNvPr>
          <p:cNvSpPr>
            <a:spLocks noGrp="1"/>
          </p:cNvSpPr>
          <p:nvPr>
            <p:ph type="title"/>
          </p:nvPr>
        </p:nvSpPr>
        <p:spPr>
          <a:xfrm>
            <a:off x="591671" y="353552"/>
            <a:ext cx="10506456" cy="825351"/>
          </a:xfrm>
        </p:spPr>
        <p:txBody>
          <a:bodyPr/>
          <a:lstStyle/>
          <a:p>
            <a:r>
              <a:rPr lang="en-US" dirty="0"/>
              <a:t>Why I chose this topic</a:t>
            </a:r>
          </a:p>
        </p:txBody>
      </p:sp>
      <p:sp>
        <p:nvSpPr>
          <p:cNvPr id="3" name="Content Placeholder 2">
            <a:extLst>
              <a:ext uri="{FF2B5EF4-FFF2-40B4-BE49-F238E27FC236}">
                <a16:creationId xmlns:a16="http://schemas.microsoft.com/office/drawing/2014/main" id="{1824A9CE-F429-88A1-D840-D5906103F5BF}"/>
              </a:ext>
            </a:extLst>
          </p:cNvPr>
          <p:cNvSpPr>
            <a:spLocks noGrp="1"/>
          </p:cNvSpPr>
          <p:nvPr>
            <p:ph sz="half" idx="1"/>
          </p:nvPr>
        </p:nvSpPr>
        <p:spPr>
          <a:xfrm>
            <a:off x="591671" y="1484555"/>
            <a:ext cx="10993777" cy="4485939"/>
          </a:xfrm>
        </p:spPr>
        <p:txBody>
          <a:bodyPr>
            <a:normAutofit fontScale="92500" lnSpcReduction="10000"/>
          </a:bodyPr>
          <a:lstStyle/>
          <a:p>
            <a:pPr marL="457200" indent="-457200">
              <a:buFont typeface="Arial" panose="020B0604020202020204" pitchFamily="34" charset="0"/>
              <a:buChar char="•"/>
            </a:pPr>
            <a:r>
              <a:rPr lang="en-US" sz="3200" dirty="0"/>
              <a:t>I am Highly </a:t>
            </a:r>
            <a:r>
              <a:rPr lang="en-US" sz="3200" b="1" dirty="0"/>
              <a:t>passionate about Biotech</a:t>
            </a:r>
          </a:p>
          <a:p>
            <a:pPr marL="457200" indent="-457200">
              <a:buFont typeface="Arial" panose="020B0604020202020204" pitchFamily="34" charset="0"/>
              <a:buChar char="•"/>
            </a:pPr>
            <a:r>
              <a:rPr lang="en-US" sz="3200" dirty="0"/>
              <a:t>I believe that </a:t>
            </a:r>
            <a:r>
              <a:rPr lang="en-US" sz="3200" b="1" dirty="0"/>
              <a:t>drug discovery </a:t>
            </a:r>
            <a:r>
              <a:rPr lang="en-US" sz="3200" dirty="0"/>
              <a:t>is one of the most important factors in </a:t>
            </a:r>
            <a:r>
              <a:rPr lang="en-US" sz="3200" b="1" dirty="0"/>
              <a:t>enhancing</a:t>
            </a:r>
            <a:r>
              <a:rPr lang="en-US" sz="3200" dirty="0"/>
              <a:t> and </a:t>
            </a:r>
            <a:r>
              <a:rPr lang="en-US" sz="3200" b="1" dirty="0"/>
              <a:t>saving lives</a:t>
            </a:r>
          </a:p>
          <a:p>
            <a:pPr marL="457200" indent="-457200">
              <a:buFont typeface="Arial" panose="020B0604020202020204" pitchFamily="34" charset="0"/>
              <a:buChar char="•"/>
            </a:pPr>
            <a:r>
              <a:rPr lang="en-US" sz="3200" dirty="0"/>
              <a:t>Despite this… Biotech is one of the </a:t>
            </a:r>
            <a:r>
              <a:rPr lang="en-US" sz="3200" b="1" dirty="0"/>
              <a:t>hardest sectors to evaluate...</a:t>
            </a:r>
          </a:p>
          <a:p>
            <a:pPr marL="457200" indent="-457200">
              <a:buFont typeface="Arial" panose="020B0604020202020204" pitchFamily="34" charset="0"/>
              <a:buChar char="•"/>
            </a:pPr>
            <a:r>
              <a:rPr lang="en-US" sz="3200" b="1" dirty="0"/>
              <a:t>Intrinsic value of a company is arbitrary due to drug failure risk</a:t>
            </a:r>
          </a:p>
          <a:p>
            <a:pPr marL="457200" indent="-457200">
              <a:buFont typeface="Arial" panose="020B0604020202020204" pitchFamily="34" charset="0"/>
              <a:buChar char="•"/>
            </a:pPr>
            <a:r>
              <a:rPr lang="en-US" sz="3200" dirty="0"/>
              <a:t>Biotech companies are </a:t>
            </a:r>
            <a:r>
              <a:rPr lang="en-US" sz="3200" b="1" dirty="0"/>
              <a:t>mostly pre-revenue micro to small cap companies- </a:t>
            </a:r>
            <a:r>
              <a:rPr lang="en-US" sz="3200" dirty="0"/>
              <a:t>making traditional financial evaluation a bit tricky</a:t>
            </a:r>
          </a:p>
          <a:p>
            <a:pPr marL="342900" indent="-3429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CCC2FDC4-6210-3021-2461-5ABCE450501E}"/>
              </a:ext>
            </a:extLst>
          </p:cNvPr>
          <p:cNvSpPr>
            <a:spLocks noGrp="1"/>
          </p:cNvSpPr>
          <p:nvPr>
            <p:ph type="sldNum" sz="quarter" idx="12"/>
          </p:nvPr>
        </p:nvSpPr>
        <p:spPr/>
        <p:txBody>
          <a:bodyPr/>
          <a:lstStyle/>
          <a:p>
            <a:fld id="{CBD12358-51D2-46B3-9BDE-DF29528B9454}" type="slidenum">
              <a:rPr lang="en-US" smtClean="0"/>
              <a:t>2</a:t>
            </a:fld>
            <a:endParaRPr lang="en-US" dirty="0"/>
          </a:p>
        </p:txBody>
      </p:sp>
    </p:spTree>
    <p:extLst>
      <p:ext uri="{BB962C8B-B14F-4D97-AF65-F5344CB8AC3E}">
        <p14:creationId xmlns:p14="http://schemas.microsoft.com/office/powerpoint/2010/main" val="2480243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5210F-0E02-9AD6-66A8-8301658D7899}"/>
              </a:ext>
            </a:extLst>
          </p:cNvPr>
          <p:cNvSpPr>
            <a:spLocks noGrp="1"/>
          </p:cNvSpPr>
          <p:nvPr>
            <p:ph type="title"/>
          </p:nvPr>
        </p:nvSpPr>
        <p:spPr>
          <a:xfrm>
            <a:off x="606552" y="365760"/>
            <a:ext cx="10506456" cy="796066"/>
          </a:xfrm>
        </p:spPr>
        <p:txBody>
          <a:bodyPr/>
          <a:lstStyle/>
          <a:p>
            <a:r>
              <a:rPr lang="en-US" dirty="0"/>
              <a:t>What is Biotech</a:t>
            </a:r>
          </a:p>
        </p:txBody>
      </p:sp>
      <p:sp>
        <p:nvSpPr>
          <p:cNvPr id="3" name="Content Placeholder 2">
            <a:extLst>
              <a:ext uri="{FF2B5EF4-FFF2-40B4-BE49-F238E27FC236}">
                <a16:creationId xmlns:a16="http://schemas.microsoft.com/office/drawing/2014/main" id="{973D03C1-EC19-3450-1D5F-EFBE15A80674}"/>
              </a:ext>
            </a:extLst>
          </p:cNvPr>
          <p:cNvSpPr>
            <a:spLocks noGrp="1"/>
          </p:cNvSpPr>
          <p:nvPr>
            <p:ph sz="half" idx="1"/>
          </p:nvPr>
        </p:nvSpPr>
        <p:spPr>
          <a:xfrm>
            <a:off x="613724" y="1645920"/>
            <a:ext cx="9516394" cy="4701092"/>
          </a:xfrm>
        </p:spPr>
        <p:txBody>
          <a:bodyPr>
            <a:normAutofit fontScale="92500" lnSpcReduction="10000"/>
          </a:bodyPr>
          <a:lstStyle/>
          <a:p>
            <a:pPr marL="457200" indent="-457200">
              <a:buFont typeface="Arial" panose="020B0604020202020204" pitchFamily="34" charset="0"/>
              <a:buChar char="•"/>
            </a:pPr>
            <a:r>
              <a:rPr lang="en-US" sz="3800" dirty="0"/>
              <a:t>Usually</a:t>
            </a:r>
            <a:r>
              <a:rPr lang="en-US" sz="3800" b="1" dirty="0"/>
              <a:t> Pre-Revenue</a:t>
            </a:r>
            <a:r>
              <a:rPr lang="en-US" sz="3800" dirty="0"/>
              <a:t> companies </a:t>
            </a:r>
          </a:p>
          <a:p>
            <a:pPr marL="457200" indent="-457200">
              <a:buFont typeface="Arial" panose="020B0604020202020204" pitchFamily="34" charset="0"/>
              <a:buChar char="•"/>
            </a:pPr>
            <a:r>
              <a:rPr lang="en-US" sz="3800" dirty="0"/>
              <a:t>focused on </a:t>
            </a:r>
            <a:r>
              <a:rPr lang="en-US" sz="3800" b="1" dirty="0"/>
              <a:t>drug discovery and development</a:t>
            </a:r>
          </a:p>
          <a:p>
            <a:pPr marL="457200" indent="-457200">
              <a:buFont typeface="Arial" panose="020B0604020202020204" pitchFamily="34" charset="0"/>
              <a:buChar char="•"/>
            </a:pPr>
            <a:r>
              <a:rPr lang="en-US" sz="3800" dirty="0"/>
              <a:t>Need to pass 4 clinical phases to achieve approval: </a:t>
            </a:r>
            <a:r>
              <a:rPr lang="en-US" sz="3800" b="1" dirty="0"/>
              <a:t>Pre-clinical, phase 1, phase 2, and phase 3</a:t>
            </a:r>
          </a:p>
          <a:p>
            <a:pPr marL="457200" indent="-457200">
              <a:buFont typeface="Arial" panose="020B0604020202020204" pitchFamily="34" charset="0"/>
              <a:buChar char="•"/>
            </a:pPr>
            <a:r>
              <a:rPr lang="en-US" sz="3800" dirty="0"/>
              <a:t>This usually requires extensive </a:t>
            </a:r>
            <a:r>
              <a:rPr lang="en-US" sz="3800" b="1" dirty="0"/>
              <a:t>clinical trials </a:t>
            </a:r>
            <a:r>
              <a:rPr lang="en-US" sz="3800" dirty="0"/>
              <a:t>that require </a:t>
            </a:r>
            <a:r>
              <a:rPr lang="en-US" sz="3800" b="1" u="sng" dirty="0"/>
              <a:t>statistically significant </a:t>
            </a:r>
            <a:r>
              <a:rPr lang="en-US" sz="3800" dirty="0"/>
              <a:t>outcomes to be </a:t>
            </a:r>
            <a:r>
              <a:rPr lang="en-US" sz="3800" b="1" dirty="0"/>
              <a:t>approved by the </a:t>
            </a:r>
            <a:r>
              <a:rPr lang="en-US" sz="3800" b="1" u="sng" dirty="0"/>
              <a:t>Federal drug administration</a:t>
            </a:r>
          </a:p>
          <a:p>
            <a:endParaRPr lang="en-US" dirty="0"/>
          </a:p>
        </p:txBody>
      </p:sp>
      <p:sp>
        <p:nvSpPr>
          <p:cNvPr id="5" name="Slide Number Placeholder 4">
            <a:extLst>
              <a:ext uri="{FF2B5EF4-FFF2-40B4-BE49-F238E27FC236}">
                <a16:creationId xmlns:a16="http://schemas.microsoft.com/office/drawing/2014/main" id="{5FD53F99-7964-2F01-09BE-ED1907B01CC2}"/>
              </a:ext>
            </a:extLst>
          </p:cNvPr>
          <p:cNvSpPr>
            <a:spLocks noGrp="1"/>
          </p:cNvSpPr>
          <p:nvPr>
            <p:ph type="sldNum" sz="quarter" idx="12"/>
          </p:nvPr>
        </p:nvSpPr>
        <p:spPr/>
        <p:txBody>
          <a:bodyPr/>
          <a:lstStyle/>
          <a:p>
            <a:fld id="{CBD12358-51D2-46B3-9BDE-DF29528B9454}" type="slidenum">
              <a:rPr lang="en-US" smtClean="0"/>
              <a:t>3</a:t>
            </a:fld>
            <a:endParaRPr lang="en-US" dirty="0"/>
          </a:p>
        </p:txBody>
      </p:sp>
    </p:spTree>
    <p:extLst>
      <p:ext uri="{BB962C8B-B14F-4D97-AF65-F5344CB8AC3E}">
        <p14:creationId xmlns:p14="http://schemas.microsoft.com/office/powerpoint/2010/main" val="1034254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344245" y="365760"/>
            <a:ext cx="7613187" cy="925158"/>
          </a:xfrm>
          <a:noFill/>
        </p:spPr>
        <p:txBody>
          <a:bodyPr>
            <a:noAutofit/>
          </a:bodyPr>
          <a:lstStyle/>
          <a:p>
            <a:r>
              <a:rPr lang="en-US" dirty="0"/>
              <a:t>How Do Clinical Trials Work?</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251012" y="1570615"/>
            <a:ext cx="5611905" cy="4797911"/>
          </a:xfrm>
          <a:noFill/>
        </p:spPr>
        <p:txBody>
          <a:bodyPr vert="horz" lIns="91440" tIns="45720" rIns="91440" bIns="45720" rtlCol="0" anchor="t">
            <a:normAutofit lnSpcReduction="10000"/>
          </a:bodyPr>
          <a:lstStyle/>
          <a:p>
            <a:pPr marL="342900" indent="-342900">
              <a:buFont typeface="Arial" panose="020B0604020202020204" pitchFamily="34" charset="0"/>
              <a:buChar char="•"/>
            </a:pPr>
            <a:r>
              <a:rPr lang="en-US" dirty="0"/>
              <a:t>Preclinical Trialing based on animal studies- generally DIO mice, rhesus macaques, and cynomolgus macaques</a:t>
            </a:r>
          </a:p>
          <a:p>
            <a:pPr marL="342900" indent="-342900">
              <a:buFont typeface="Arial" panose="020B0604020202020204" pitchFamily="34" charset="0"/>
              <a:buChar char="•"/>
            </a:pPr>
            <a:r>
              <a:rPr lang="en-US" dirty="0"/>
              <a:t>Phase 1- Start of Human trialing (Safety/AE profile very important in this phase)</a:t>
            </a:r>
          </a:p>
          <a:p>
            <a:pPr marL="342900" indent="-342900">
              <a:buFont typeface="Arial" panose="020B0604020202020204" pitchFamily="34" charset="0"/>
              <a:buChar char="•"/>
            </a:pPr>
            <a:r>
              <a:rPr lang="en-US" dirty="0"/>
              <a:t>Phase 2- More extensive trialing (AE profile still very important- efficacy begins to become more of a concern)</a:t>
            </a:r>
          </a:p>
          <a:p>
            <a:pPr marL="342900" indent="-342900">
              <a:buFont typeface="Arial" panose="020B0604020202020204" pitchFamily="34" charset="0"/>
              <a:buChar char="•"/>
            </a:pPr>
            <a:r>
              <a:rPr lang="en-US" dirty="0"/>
              <a:t>Phase 3- Most extensive trail- (Primary Endpoint very important, Serious AE’s very important, less room for Post-HOC analysis for approval- generally)</a:t>
            </a:r>
          </a:p>
          <a:p>
            <a:pPr marL="342900" indent="-342900">
              <a:buFont typeface="Arial" panose="020B0604020202020204" pitchFamily="34" charset="0"/>
              <a:buChar char="•"/>
            </a:pPr>
            <a:r>
              <a:rPr lang="en-US" dirty="0"/>
              <a:t>After achieving Phase 3 success, the company applies for an NDA… If approved, they are more easily able to start achieving cash flow/ revenue enhancing their business model</a:t>
            </a:r>
          </a:p>
        </p:txBody>
      </p:sp>
      <p:graphicFrame>
        <p:nvGraphicFramePr>
          <p:cNvPr id="14" name="Content Placeholder 13" descr="A timeline of the product launch">
            <a:extLst>
              <a:ext uri="{FF2B5EF4-FFF2-40B4-BE49-F238E27FC236}">
                <a16:creationId xmlns:a16="http://schemas.microsoft.com/office/drawing/2014/main" id="{A7FD81E4-2CEB-1301-59FF-81509B86E571}"/>
              </a:ext>
            </a:extLst>
          </p:cNvPr>
          <p:cNvGraphicFramePr>
            <a:graphicFrameLocks noGrp="1"/>
          </p:cNvGraphicFramePr>
          <p:nvPr>
            <p:ph sz="half" idx="2"/>
            <p:extLst>
              <p:ext uri="{D42A27DB-BD31-4B8C-83A1-F6EECF244321}">
                <p14:modId xmlns:p14="http://schemas.microsoft.com/office/powerpoint/2010/main" val="3164147839"/>
              </p:ext>
            </p:extLst>
          </p:nvPr>
        </p:nvGraphicFramePr>
        <p:xfrm>
          <a:off x="5862918" y="1947133"/>
          <a:ext cx="6078070" cy="45451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 name="Slide Number Placeholder 20">
            <a:extLst>
              <a:ext uri="{FF2B5EF4-FFF2-40B4-BE49-F238E27FC236}">
                <a16:creationId xmlns:a16="http://schemas.microsoft.com/office/drawing/2014/main" id="{E39E6080-E7F0-678F-65B9-B64B99BDF328}"/>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4</a:t>
            </a:fld>
            <a:endParaRPr lang="en-US" dirty="0"/>
          </a:p>
        </p:txBody>
      </p:sp>
    </p:spTree>
    <p:extLst>
      <p:ext uri="{BB962C8B-B14F-4D97-AF65-F5344CB8AC3E}">
        <p14:creationId xmlns:p14="http://schemas.microsoft.com/office/powerpoint/2010/main" val="2737241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8ACB7-FCEF-49EA-FA41-435EC22C9068}"/>
              </a:ext>
            </a:extLst>
          </p:cNvPr>
          <p:cNvSpPr>
            <a:spLocks noGrp="1"/>
          </p:cNvSpPr>
          <p:nvPr>
            <p:ph type="title"/>
          </p:nvPr>
        </p:nvSpPr>
        <p:spPr>
          <a:xfrm>
            <a:off x="505609" y="681377"/>
            <a:ext cx="10122946" cy="685502"/>
          </a:xfrm>
        </p:spPr>
        <p:txBody>
          <a:bodyPr>
            <a:noAutofit/>
          </a:bodyPr>
          <a:lstStyle/>
          <a:p>
            <a:pPr algn="ctr"/>
            <a:r>
              <a:rPr lang="en-US" sz="3600" dirty="0"/>
              <a:t>Data Science in Drug Discovery, Development and Patient Treatment (Literature Review)</a:t>
            </a:r>
          </a:p>
        </p:txBody>
      </p:sp>
      <p:sp>
        <p:nvSpPr>
          <p:cNvPr id="3" name="Content Placeholder 2">
            <a:extLst>
              <a:ext uri="{FF2B5EF4-FFF2-40B4-BE49-F238E27FC236}">
                <a16:creationId xmlns:a16="http://schemas.microsoft.com/office/drawing/2014/main" id="{3ECA055F-2FC9-2ED1-4D38-3AD06571C4BA}"/>
              </a:ext>
            </a:extLst>
          </p:cNvPr>
          <p:cNvSpPr>
            <a:spLocks noGrp="1"/>
          </p:cNvSpPr>
          <p:nvPr>
            <p:ph sz="half" idx="1"/>
          </p:nvPr>
        </p:nvSpPr>
        <p:spPr>
          <a:xfrm>
            <a:off x="505609" y="1527586"/>
            <a:ext cx="10122945" cy="4948518"/>
          </a:xfrm>
        </p:spPr>
        <p:txBody>
          <a:bodyPr>
            <a:normAutofit fontScale="92500"/>
          </a:bodyPr>
          <a:lstStyle/>
          <a:p>
            <a:r>
              <a:rPr lang="en-US" sz="1600" dirty="0"/>
              <a:t>Article: “</a:t>
            </a:r>
            <a:r>
              <a:rPr lang="en-US" sz="1600" b="1" dirty="0"/>
              <a:t>Artificial Intelligence (AI) Applications in Drug Discovery and Drug Delivery: Revolutionizing Personalized Medicine” by NIH National Library of Medicine (National Center for Biotechnology Information)</a:t>
            </a:r>
          </a:p>
          <a:p>
            <a:endParaRPr lang="en-US" sz="1600" dirty="0"/>
          </a:p>
          <a:p>
            <a:pPr marL="342900" indent="-342900">
              <a:buFont typeface="Arial" panose="020B0604020202020204" pitchFamily="34" charset="0"/>
              <a:buChar char="•"/>
            </a:pPr>
            <a:r>
              <a:rPr lang="en-US" sz="1600" b="1" dirty="0"/>
              <a:t>Data Science</a:t>
            </a:r>
            <a:r>
              <a:rPr lang="en-US" sz="1600" dirty="0"/>
              <a:t>/ Machine Learning applications have been used in drug discovery since as early as the </a:t>
            </a:r>
            <a:r>
              <a:rPr lang="en-US" sz="1600" b="1" dirty="0"/>
              <a:t>1980’s</a:t>
            </a:r>
            <a:r>
              <a:rPr lang="en-US" sz="1600" dirty="0"/>
              <a:t> and </a:t>
            </a:r>
            <a:r>
              <a:rPr lang="en-US" sz="1600" b="1" dirty="0"/>
              <a:t>1990’s</a:t>
            </a:r>
            <a:r>
              <a:rPr lang="en-US" sz="1600" dirty="0"/>
              <a:t> through </a:t>
            </a:r>
            <a:r>
              <a:rPr lang="en-US" sz="1600" b="1" dirty="0"/>
              <a:t>basic computational models and chemical structure prediction</a:t>
            </a:r>
          </a:p>
          <a:p>
            <a:pPr marL="342900" indent="-342900">
              <a:buFont typeface="Arial" panose="020B0604020202020204" pitchFamily="34" charset="0"/>
              <a:buChar char="•"/>
            </a:pPr>
            <a:r>
              <a:rPr lang="en-US" sz="1600" dirty="0"/>
              <a:t>In the </a:t>
            </a:r>
            <a:r>
              <a:rPr lang="en-US" sz="1600" b="1" dirty="0"/>
              <a:t>2000’s “A.I.” (Data Science) began to grow in its power </a:t>
            </a:r>
            <a:r>
              <a:rPr lang="en-US" sz="1600" dirty="0"/>
              <a:t>through machine learning algorithms capable of </a:t>
            </a:r>
            <a:r>
              <a:rPr lang="en-US" sz="1600" b="1" dirty="0"/>
              <a:t>analyzing complex datasets, streamlining drug discovery processes and predicting molecular interactions</a:t>
            </a:r>
          </a:p>
          <a:p>
            <a:pPr marL="342900" indent="-342900">
              <a:buFont typeface="Arial" panose="020B0604020202020204" pitchFamily="34" charset="0"/>
              <a:buChar char="•"/>
            </a:pPr>
            <a:r>
              <a:rPr lang="en-US" sz="1600" b="1" dirty="0"/>
              <a:t>Widespread adoption of Machine Learning/ A.I. took off in 2010’s </a:t>
            </a:r>
            <a:r>
              <a:rPr lang="en-US" sz="1600" dirty="0"/>
              <a:t>“driven by advances in Big Data, deep learning, and access to large biological and chemical datasets… various stages of development , from target identification to clinical trial design.”</a:t>
            </a:r>
          </a:p>
          <a:p>
            <a:pPr marL="342900" indent="-342900">
              <a:buFont typeface="Arial" panose="020B0604020202020204" pitchFamily="34" charset="0"/>
              <a:buChar char="•"/>
            </a:pPr>
            <a:r>
              <a:rPr lang="en-US" sz="1600" dirty="0"/>
              <a:t>“AI has encompassed a wide range of techniques that have been applied by pharmaceutical companies over the last few decades, including machine learning, deep learning, and other advanced computational techniques”</a:t>
            </a:r>
          </a:p>
          <a:p>
            <a:pPr marL="342900" indent="-342900">
              <a:buFont typeface="Arial" panose="020B0604020202020204" pitchFamily="34" charset="0"/>
              <a:buChar char="•"/>
            </a:pPr>
            <a:r>
              <a:rPr lang="en-US" sz="1600" dirty="0"/>
              <a:t>“…resulted in unprecedented opportunities for the expedition of the drug discovery and drug delivery processes, leading in turn to the optimization of treatment regimens and the improvement of patient outcomes”</a:t>
            </a:r>
          </a:p>
          <a:p>
            <a:pPr marL="342900" indent="-342900">
              <a:buFont typeface="Arial" panose="020B0604020202020204" pitchFamily="34" charset="0"/>
              <a:buChar char="•"/>
            </a:pPr>
            <a:r>
              <a:rPr lang="en-US" sz="1600" dirty="0"/>
              <a:t>“AI algorithms can analyze large-scale biomedical data uncovering hidden relationships between drugs and diseases. ”</a:t>
            </a:r>
          </a:p>
          <a:p>
            <a:pPr marL="342900" indent="-342900">
              <a:buFont typeface="Arial" panose="020B0604020202020204" pitchFamily="34" charset="0"/>
              <a:buChar char="•"/>
            </a:pPr>
            <a:r>
              <a:rPr lang="en-US" sz="1600" dirty="0"/>
              <a:t>https://pmc.ncbi.nlm.nih.gov/articles/PMC11510778/#sec2-pharmaceutics-16-01328</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66BA856F-A8B4-EA68-4743-72944853AFAD}"/>
              </a:ext>
            </a:extLst>
          </p:cNvPr>
          <p:cNvSpPr>
            <a:spLocks noGrp="1"/>
          </p:cNvSpPr>
          <p:nvPr>
            <p:ph type="sldNum" sz="quarter" idx="12"/>
          </p:nvPr>
        </p:nvSpPr>
        <p:spPr/>
        <p:txBody>
          <a:bodyPr/>
          <a:lstStyle/>
          <a:p>
            <a:fld id="{CBD12358-51D2-46B3-9BDE-DF29528B9454}" type="slidenum">
              <a:rPr lang="en-US" smtClean="0"/>
              <a:t>5</a:t>
            </a:fld>
            <a:endParaRPr lang="en-US" dirty="0"/>
          </a:p>
        </p:txBody>
      </p:sp>
    </p:spTree>
    <p:extLst>
      <p:ext uri="{BB962C8B-B14F-4D97-AF65-F5344CB8AC3E}">
        <p14:creationId xmlns:p14="http://schemas.microsoft.com/office/powerpoint/2010/main" val="1005188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AE8CC-1D56-DCAA-511E-8F8BDEC52ED4}"/>
              </a:ext>
            </a:extLst>
          </p:cNvPr>
          <p:cNvSpPr>
            <a:spLocks noGrp="1"/>
          </p:cNvSpPr>
          <p:nvPr>
            <p:ph type="title"/>
          </p:nvPr>
        </p:nvSpPr>
        <p:spPr>
          <a:xfrm>
            <a:off x="494851" y="348785"/>
            <a:ext cx="9907793" cy="978946"/>
          </a:xfrm>
        </p:spPr>
        <p:txBody>
          <a:bodyPr>
            <a:normAutofit fontScale="90000"/>
          </a:bodyPr>
          <a:lstStyle/>
          <a:p>
            <a:r>
              <a:rPr lang="en-US" dirty="0"/>
              <a:t>Data Science in Biotech Equity Evaluation </a:t>
            </a:r>
          </a:p>
        </p:txBody>
      </p:sp>
      <p:sp>
        <p:nvSpPr>
          <p:cNvPr id="3" name="Content Placeholder 2">
            <a:extLst>
              <a:ext uri="{FF2B5EF4-FFF2-40B4-BE49-F238E27FC236}">
                <a16:creationId xmlns:a16="http://schemas.microsoft.com/office/drawing/2014/main" id="{ADCE0F43-EBCD-4184-9C7C-BA144F99E05E}"/>
              </a:ext>
            </a:extLst>
          </p:cNvPr>
          <p:cNvSpPr>
            <a:spLocks noGrp="1"/>
          </p:cNvSpPr>
          <p:nvPr>
            <p:ph sz="half" idx="1"/>
          </p:nvPr>
        </p:nvSpPr>
        <p:spPr>
          <a:xfrm>
            <a:off x="591669" y="1495312"/>
            <a:ext cx="11274016" cy="4410635"/>
          </a:xfrm>
        </p:spPr>
        <p:txBody>
          <a:bodyPr/>
          <a:lstStyle/>
          <a:p>
            <a:pPr marL="342900" indent="-342900">
              <a:buFont typeface="Arial" panose="020B0604020202020204" pitchFamily="34" charset="0"/>
              <a:buChar char="•"/>
            </a:pPr>
            <a:r>
              <a:rPr lang="en-US" b="1" dirty="0"/>
              <a:t>Long discovery/clinical timelines and binary drug outcomes can cause a drought of funding- </a:t>
            </a:r>
            <a:r>
              <a:rPr lang="en-US" dirty="0"/>
              <a:t>not based necessarily on the drug company or compound itself, but based on the </a:t>
            </a:r>
            <a:r>
              <a:rPr lang="en-US" b="1" dirty="0"/>
              <a:t>markets ability to accurately evaluate that company/compound</a:t>
            </a:r>
          </a:p>
          <a:p>
            <a:pPr marL="342900" indent="-342900">
              <a:buFont typeface="Arial" panose="020B0604020202020204" pitchFamily="34" charset="0"/>
              <a:buChar char="•"/>
            </a:pPr>
            <a:r>
              <a:rPr lang="en-US" dirty="0"/>
              <a:t>This can sometimes cause a </a:t>
            </a:r>
            <a:r>
              <a:rPr lang="en-US" b="1" dirty="0"/>
              <a:t>lack of funding in Biotech: most recently (2021- 2025)</a:t>
            </a:r>
          </a:p>
          <a:p>
            <a:pPr marL="342900" indent="-342900">
              <a:buFont typeface="Arial" panose="020B0604020202020204" pitchFamily="34" charset="0"/>
              <a:buChar char="•"/>
            </a:pPr>
            <a:r>
              <a:rPr lang="en-US" dirty="0"/>
              <a:t>Companies may have to </a:t>
            </a:r>
            <a:r>
              <a:rPr lang="en-US" b="1" dirty="0"/>
              <a:t>forgo drug development because of lack of funding </a:t>
            </a:r>
            <a:r>
              <a:rPr lang="en-US" dirty="0"/>
              <a:t>rather than the drugs efficacy and safety profile</a:t>
            </a:r>
          </a:p>
          <a:p>
            <a:pPr marL="342900" indent="-342900">
              <a:buFont typeface="Arial" panose="020B0604020202020204" pitchFamily="34" charset="0"/>
              <a:buChar char="•"/>
            </a:pPr>
            <a:r>
              <a:rPr lang="en-US" dirty="0"/>
              <a:t>Drug development may be hindered by the </a:t>
            </a:r>
            <a:r>
              <a:rPr lang="en-US" b="1" dirty="0"/>
              <a:t>markets lack of confidence in evaluating drug success probabilities</a:t>
            </a:r>
          </a:p>
          <a:p>
            <a:pPr marL="342900" indent="-342900">
              <a:buFont typeface="Arial" panose="020B0604020202020204" pitchFamily="34" charset="0"/>
              <a:buChar char="•"/>
            </a:pPr>
            <a:r>
              <a:rPr lang="en-US" b="1" dirty="0"/>
              <a:t>Data Science modeling methods</a:t>
            </a:r>
            <a:r>
              <a:rPr lang="en-US" dirty="0"/>
              <a:t> that </a:t>
            </a:r>
            <a:r>
              <a:rPr lang="en-US" b="1" dirty="0"/>
              <a:t>can give equity evaluators the tools necessary to assess drug approval probabilities</a:t>
            </a:r>
          </a:p>
          <a:p>
            <a:pPr marL="342900" indent="-342900">
              <a:buFont typeface="Arial" panose="020B0604020202020204" pitchFamily="34" charset="0"/>
              <a:buChar char="•"/>
            </a:pPr>
            <a:r>
              <a:rPr lang="en-US" dirty="0"/>
              <a:t>Enhancing drug discovery capabilities for investigational drugs and the equity evaluators that provide funding </a:t>
            </a:r>
          </a:p>
        </p:txBody>
      </p:sp>
      <p:sp>
        <p:nvSpPr>
          <p:cNvPr id="5" name="Slide Number Placeholder 4">
            <a:extLst>
              <a:ext uri="{FF2B5EF4-FFF2-40B4-BE49-F238E27FC236}">
                <a16:creationId xmlns:a16="http://schemas.microsoft.com/office/drawing/2014/main" id="{817B8C6E-C780-63E0-5DFF-C164111E84AB}"/>
              </a:ext>
            </a:extLst>
          </p:cNvPr>
          <p:cNvSpPr>
            <a:spLocks noGrp="1"/>
          </p:cNvSpPr>
          <p:nvPr>
            <p:ph type="sldNum" sz="quarter" idx="12"/>
          </p:nvPr>
        </p:nvSpPr>
        <p:spPr/>
        <p:txBody>
          <a:bodyPr/>
          <a:lstStyle/>
          <a:p>
            <a:fld id="{CBD12358-51D2-46B3-9BDE-DF29528B9454}" type="slidenum">
              <a:rPr lang="en-US" smtClean="0"/>
              <a:t>6</a:t>
            </a:fld>
            <a:endParaRPr lang="en-US" dirty="0"/>
          </a:p>
        </p:txBody>
      </p:sp>
    </p:spTree>
    <p:extLst>
      <p:ext uri="{BB962C8B-B14F-4D97-AF65-F5344CB8AC3E}">
        <p14:creationId xmlns:p14="http://schemas.microsoft.com/office/powerpoint/2010/main" val="2736326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394448" y="594360"/>
            <a:ext cx="11403104" cy="1344706"/>
          </a:xfrm>
          <a:noFill/>
        </p:spPr>
        <p:txBody>
          <a:bodyPr anchor="b">
            <a:noAutofit/>
          </a:bodyPr>
          <a:lstStyle/>
          <a:p>
            <a:pPr algn="ctr"/>
            <a:r>
              <a:rPr lang="en-US" sz="3600" dirty="0"/>
              <a:t>Synergy of Accurate Equity Evaluation and Successful Drug Projection Models In Enhancing Clinical Outcomes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2958352" y="2183802"/>
            <a:ext cx="8240359" cy="3636086"/>
          </a:xfrm>
          <a:noFill/>
        </p:spPr>
        <p:txBody>
          <a:bodyPr>
            <a:noAutofit/>
          </a:bodyPr>
          <a:lstStyle/>
          <a:p>
            <a:pPr marL="342900" indent="-342900">
              <a:buFont typeface="Arial" panose="020B0604020202020204" pitchFamily="34" charset="0"/>
              <a:buChar char="•"/>
            </a:pPr>
            <a:r>
              <a:rPr lang="en-US" dirty="0"/>
              <a:t>By using Data Science to create more accurate clinical projection models during drug discovery and clinical trials…</a:t>
            </a:r>
          </a:p>
          <a:p>
            <a:pPr marL="342900" indent="-342900">
              <a:buFont typeface="Arial" panose="020B0604020202020204" pitchFamily="34" charset="0"/>
              <a:buChar char="•"/>
            </a:pPr>
            <a:r>
              <a:rPr lang="en-US" dirty="0"/>
              <a:t> Companies are more informed in what MOAs and Indications thereof are more likely to succeed in clinical trials and the real world</a:t>
            </a:r>
          </a:p>
          <a:p>
            <a:pPr marL="342900" indent="-342900">
              <a:buFont typeface="Arial" panose="020B0604020202020204" pitchFamily="34" charset="0"/>
              <a:buChar char="•"/>
            </a:pPr>
            <a:r>
              <a:rPr lang="en-US" dirty="0"/>
              <a:t>Equity evaluators are more likely to also use these Data Science methods and be more confident in their investments into drug discovery</a:t>
            </a:r>
          </a:p>
          <a:p>
            <a:pPr marL="342900" indent="-342900">
              <a:buFont typeface="Arial" panose="020B0604020202020204" pitchFamily="34" charset="0"/>
              <a:buChar char="•"/>
            </a:pPr>
            <a:r>
              <a:rPr lang="en-US" dirty="0"/>
              <a:t>Making drug discovery and clinical trialing a more effective and well funded endeavor</a:t>
            </a:r>
          </a:p>
          <a:p>
            <a:pPr marL="342900" indent="-342900">
              <a:buFont typeface="Arial" panose="020B0604020202020204" pitchFamily="34" charset="0"/>
              <a:buChar char="•"/>
            </a:pPr>
            <a:r>
              <a:rPr lang="en-US" dirty="0"/>
              <a:t>Theoretically enhancing and saving more lives by advancing medicine</a:t>
            </a:r>
          </a:p>
        </p:txBody>
      </p:sp>
      <p:sp>
        <p:nvSpPr>
          <p:cNvPr id="10" name="Slide Number Placeholder 9">
            <a:extLst>
              <a:ext uri="{FF2B5EF4-FFF2-40B4-BE49-F238E27FC236}">
                <a16:creationId xmlns:a16="http://schemas.microsoft.com/office/drawing/2014/main" id="{FD7B9109-9E17-1A7A-3A9A-0F1C07BF36A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7</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4654296" y="27432"/>
            <a:ext cx="7415784" cy="3566160"/>
          </a:xfrm>
          <a:noFill/>
        </p:spPr>
        <p:txBody>
          <a:bodyPr>
            <a:noAutofit/>
          </a:bodyPr>
          <a:lstStyle/>
          <a:p>
            <a:r>
              <a:rPr lang="en-US" sz="5400" dirty="0"/>
              <a:t>Example of Equity Evaluation: Where Data Science Steps In</a:t>
            </a: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4654295" y="3767328"/>
            <a:ext cx="7004303" cy="1161288"/>
          </a:xfrm>
          <a:noFill/>
        </p:spPr>
        <p:txBody>
          <a:bodyPr>
            <a:noAutofit/>
          </a:bodyPr>
          <a:lstStyle/>
          <a:p>
            <a:r>
              <a:rPr lang="en-US" dirty="0" err="1"/>
              <a:t>Abivax</a:t>
            </a:r>
            <a:r>
              <a:rPr lang="en-US" dirty="0"/>
              <a:t> (ABVX)</a:t>
            </a:r>
          </a:p>
        </p:txBody>
      </p:sp>
    </p:spTree>
    <p:extLst>
      <p:ext uri="{BB962C8B-B14F-4D97-AF65-F5344CB8AC3E}">
        <p14:creationId xmlns:p14="http://schemas.microsoft.com/office/powerpoint/2010/main" val="1371737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600200" y="150607"/>
            <a:ext cx="10277856" cy="785308"/>
          </a:xfrm>
          <a:noFill/>
        </p:spPr>
        <p:txBody>
          <a:bodyPr>
            <a:noAutofit/>
          </a:bodyPr>
          <a:lstStyle/>
          <a:p>
            <a:r>
              <a:rPr lang="en-US" dirty="0" err="1"/>
              <a:t>Abivax</a:t>
            </a:r>
            <a:r>
              <a:rPr lang="en-US" dirty="0"/>
              <a:t> Overview</a:t>
            </a:r>
          </a:p>
        </p:txBody>
      </p:sp>
      <p:sp>
        <p:nvSpPr>
          <p:cNvPr id="8" name="Slide Number Placeholder 7">
            <a:extLst>
              <a:ext uri="{FF2B5EF4-FFF2-40B4-BE49-F238E27FC236}">
                <a16:creationId xmlns:a16="http://schemas.microsoft.com/office/drawing/2014/main" id="{093736AF-0027-E734-82A8-010D7129D04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dirty="0"/>
          </a:p>
        </p:txBody>
      </p:sp>
      <p:pic>
        <p:nvPicPr>
          <p:cNvPr id="10" name="Picture 9">
            <a:extLst>
              <a:ext uri="{FF2B5EF4-FFF2-40B4-BE49-F238E27FC236}">
                <a16:creationId xmlns:a16="http://schemas.microsoft.com/office/drawing/2014/main" id="{A2496781-382A-5329-D028-A716467E01F0}"/>
              </a:ext>
            </a:extLst>
          </p:cNvPr>
          <p:cNvPicPr>
            <a:picLocks noChangeAspect="1"/>
          </p:cNvPicPr>
          <p:nvPr/>
        </p:nvPicPr>
        <p:blipFill>
          <a:blip r:embed="rId2"/>
          <a:stretch>
            <a:fillRect/>
          </a:stretch>
        </p:blipFill>
        <p:spPr>
          <a:xfrm>
            <a:off x="6971461" y="2017245"/>
            <a:ext cx="3486637" cy="1371791"/>
          </a:xfrm>
          <a:prstGeom prst="rect">
            <a:avLst/>
          </a:prstGeom>
        </p:spPr>
      </p:pic>
      <p:pic>
        <p:nvPicPr>
          <p:cNvPr id="13" name="Picture 12">
            <a:extLst>
              <a:ext uri="{FF2B5EF4-FFF2-40B4-BE49-F238E27FC236}">
                <a16:creationId xmlns:a16="http://schemas.microsoft.com/office/drawing/2014/main" id="{E0D9A215-8859-E998-D3FB-CB2C02B6C79C}"/>
              </a:ext>
            </a:extLst>
          </p:cNvPr>
          <p:cNvPicPr>
            <a:picLocks noChangeAspect="1"/>
          </p:cNvPicPr>
          <p:nvPr/>
        </p:nvPicPr>
        <p:blipFill>
          <a:blip r:embed="rId3"/>
          <a:stretch>
            <a:fillRect/>
          </a:stretch>
        </p:blipFill>
        <p:spPr>
          <a:xfrm>
            <a:off x="286112" y="825438"/>
            <a:ext cx="5658386" cy="6032562"/>
          </a:xfrm>
          <a:prstGeom prst="rect">
            <a:avLst/>
          </a:prstGeom>
        </p:spPr>
      </p:pic>
      <p:sp>
        <p:nvSpPr>
          <p:cNvPr id="14" name="TextBox 13">
            <a:extLst>
              <a:ext uri="{FF2B5EF4-FFF2-40B4-BE49-F238E27FC236}">
                <a16:creationId xmlns:a16="http://schemas.microsoft.com/office/drawing/2014/main" id="{924CBBBA-4283-AC3E-956E-FC298D0EB373}"/>
              </a:ext>
            </a:extLst>
          </p:cNvPr>
          <p:cNvSpPr txBox="1"/>
          <p:nvPr/>
        </p:nvSpPr>
        <p:spPr>
          <a:xfrm>
            <a:off x="4323498" y="6569579"/>
            <a:ext cx="7554558" cy="215444"/>
          </a:xfrm>
          <a:prstGeom prst="rect">
            <a:avLst/>
          </a:prstGeom>
          <a:noFill/>
        </p:spPr>
        <p:txBody>
          <a:bodyPr wrap="square" rtlCol="0">
            <a:spAutoFit/>
          </a:bodyPr>
          <a:lstStyle/>
          <a:p>
            <a:r>
              <a:rPr lang="en-US" sz="800" dirty="0"/>
              <a:t>https://www.sciencedirect.com/science/article/pii/S1359644620305377</a:t>
            </a:r>
          </a:p>
        </p:txBody>
      </p:sp>
      <p:pic>
        <p:nvPicPr>
          <p:cNvPr id="4" name="Picture 3">
            <a:extLst>
              <a:ext uri="{FF2B5EF4-FFF2-40B4-BE49-F238E27FC236}">
                <a16:creationId xmlns:a16="http://schemas.microsoft.com/office/drawing/2014/main" id="{E9C88FDB-CF10-1B07-FFBB-8F410F87A4D1}"/>
              </a:ext>
            </a:extLst>
          </p:cNvPr>
          <p:cNvPicPr>
            <a:picLocks noChangeAspect="1"/>
          </p:cNvPicPr>
          <p:nvPr/>
        </p:nvPicPr>
        <p:blipFill>
          <a:blip r:embed="rId4"/>
          <a:stretch>
            <a:fillRect/>
          </a:stretch>
        </p:blipFill>
        <p:spPr>
          <a:xfrm>
            <a:off x="6228407" y="4123872"/>
            <a:ext cx="2486372" cy="1267002"/>
          </a:xfrm>
          <a:prstGeom prst="rect">
            <a:avLst/>
          </a:prstGeom>
        </p:spPr>
      </p:pic>
      <p:pic>
        <p:nvPicPr>
          <p:cNvPr id="6" name="Picture 5">
            <a:extLst>
              <a:ext uri="{FF2B5EF4-FFF2-40B4-BE49-F238E27FC236}">
                <a16:creationId xmlns:a16="http://schemas.microsoft.com/office/drawing/2014/main" id="{3B9A0B4D-2C68-129E-2EFF-8ECE82E8BF58}"/>
              </a:ext>
            </a:extLst>
          </p:cNvPr>
          <p:cNvPicPr>
            <a:picLocks noChangeAspect="1"/>
          </p:cNvPicPr>
          <p:nvPr/>
        </p:nvPicPr>
        <p:blipFill>
          <a:blip r:embed="rId5"/>
          <a:stretch>
            <a:fillRect/>
          </a:stretch>
        </p:blipFill>
        <p:spPr>
          <a:xfrm>
            <a:off x="9214912" y="4123872"/>
            <a:ext cx="2486372" cy="1268979"/>
          </a:xfrm>
          <a:prstGeom prst="rect">
            <a:avLst/>
          </a:prstGeom>
        </p:spPr>
      </p:pic>
    </p:spTree>
    <p:extLst>
      <p:ext uri="{BB962C8B-B14F-4D97-AF65-F5344CB8AC3E}">
        <p14:creationId xmlns:p14="http://schemas.microsoft.com/office/powerpoint/2010/main" val="729609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B47B3-03B2-BE05-2246-FA9BCFB2AA71}"/>
              </a:ext>
            </a:extLst>
          </p:cNvPr>
          <p:cNvSpPr>
            <a:spLocks noGrp="1"/>
          </p:cNvSpPr>
          <p:nvPr>
            <p:ph type="title"/>
          </p:nvPr>
        </p:nvSpPr>
        <p:spPr>
          <a:xfrm>
            <a:off x="1078992" y="365761"/>
            <a:ext cx="10506456" cy="968188"/>
          </a:xfrm>
        </p:spPr>
        <p:txBody>
          <a:bodyPr>
            <a:normAutofit/>
          </a:bodyPr>
          <a:lstStyle/>
          <a:p>
            <a:r>
              <a:rPr lang="en-US" dirty="0"/>
              <a:t>ABVX: Pre- Revenue</a:t>
            </a:r>
          </a:p>
        </p:txBody>
      </p:sp>
      <p:sp>
        <p:nvSpPr>
          <p:cNvPr id="3" name="Content Placeholder 2">
            <a:extLst>
              <a:ext uri="{FF2B5EF4-FFF2-40B4-BE49-F238E27FC236}">
                <a16:creationId xmlns:a16="http://schemas.microsoft.com/office/drawing/2014/main" id="{849E42A9-3A11-AFEA-B0FC-6EE625E13E91}"/>
              </a:ext>
            </a:extLst>
          </p:cNvPr>
          <p:cNvSpPr>
            <a:spLocks noGrp="1"/>
          </p:cNvSpPr>
          <p:nvPr>
            <p:ph sz="half" idx="1"/>
          </p:nvPr>
        </p:nvSpPr>
        <p:spPr>
          <a:xfrm>
            <a:off x="509195" y="1495313"/>
            <a:ext cx="3697045" cy="4349361"/>
          </a:xfrm>
        </p:spPr>
        <p:txBody>
          <a:bodyPr/>
          <a:lstStyle/>
          <a:p>
            <a:pPr marL="342900" indent="-342900">
              <a:buFont typeface="Arial" panose="020B0604020202020204" pitchFamily="34" charset="0"/>
              <a:buChar char="•"/>
            </a:pPr>
            <a:r>
              <a:rPr lang="en-US" dirty="0"/>
              <a:t>Biotech company business model before drug on the market</a:t>
            </a:r>
          </a:p>
          <a:p>
            <a:pPr marL="342900" indent="-342900">
              <a:buFont typeface="Arial" panose="020B0604020202020204" pitchFamily="34" charset="0"/>
              <a:buChar char="•"/>
            </a:pPr>
            <a:r>
              <a:rPr lang="en-US" dirty="0"/>
              <a:t>Losing money each quarter = cash burn</a:t>
            </a:r>
          </a:p>
          <a:p>
            <a:pPr marL="342900" indent="-342900">
              <a:buFont typeface="Arial" panose="020B0604020202020204" pitchFamily="34" charset="0"/>
              <a:buChar char="•"/>
            </a:pPr>
            <a:r>
              <a:rPr lang="en-US" dirty="0"/>
              <a:t>Business model is dependent on drug approval in 2</a:t>
            </a:r>
            <a:r>
              <a:rPr lang="en-US" baseline="30000" dirty="0"/>
              <a:t>nd</a:t>
            </a:r>
            <a:r>
              <a:rPr lang="en-US" dirty="0"/>
              <a:t> quarter data release in 2026</a:t>
            </a:r>
          </a:p>
          <a:p>
            <a:pPr marL="342900" indent="-342900">
              <a:buFont typeface="Arial" panose="020B0604020202020204" pitchFamily="34" charset="0"/>
              <a:buChar char="•"/>
            </a:pPr>
            <a:r>
              <a:rPr lang="en-US" dirty="0"/>
              <a:t>Evaluation also dependent on projecting clinical success</a:t>
            </a:r>
          </a:p>
          <a:p>
            <a:pPr marL="342900" indent="-3429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0FAFA27B-86FF-5825-DD89-D04B2AB7EB43}"/>
              </a:ext>
            </a:extLst>
          </p:cNvPr>
          <p:cNvSpPr>
            <a:spLocks noGrp="1"/>
          </p:cNvSpPr>
          <p:nvPr>
            <p:ph type="sldNum" sz="quarter" idx="12"/>
          </p:nvPr>
        </p:nvSpPr>
        <p:spPr/>
        <p:txBody>
          <a:bodyPr/>
          <a:lstStyle/>
          <a:p>
            <a:fld id="{CBD12358-51D2-46B3-9BDE-DF29528B9454}" type="slidenum">
              <a:rPr lang="en-US" smtClean="0"/>
              <a:t>10</a:t>
            </a:fld>
            <a:endParaRPr lang="en-US" dirty="0"/>
          </a:p>
        </p:txBody>
      </p:sp>
      <p:pic>
        <p:nvPicPr>
          <p:cNvPr id="7" name="Picture 6">
            <a:extLst>
              <a:ext uri="{FF2B5EF4-FFF2-40B4-BE49-F238E27FC236}">
                <a16:creationId xmlns:a16="http://schemas.microsoft.com/office/drawing/2014/main" id="{73AF9875-8D99-2822-F02C-EDA0A3864543}"/>
              </a:ext>
            </a:extLst>
          </p:cNvPr>
          <p:cNvPicPr>
            <a:picLocks noChangeAspect="1"/>
          </p:cNvPicPr>
          <p:nvPr/>
        </p:nvPicPr>
        <p:blipFill>
          <a:blip r:embed="rId2"/>
          <a:stretch>
            <a:fillRect/>
          </a:stretch>
        </p:blipFill>
        <p:spPr>
          <a:xfrm>
            <a:off x="4683161" y="1495312"/>
            <a:ext cx="6977099" cy="4349361"/>
          </a:xfrm>
          <a:prstGeom prst="rect">
            <a:avLst/>
          </a:prstGeom>
        </p:spPr>
      </p:pic>
    </p:spTree>
    <p:extLst>
      <p:ext uri="{BB962C8B-B14F-4D97-AF65-F5344CB8AC3E}">
        <p14:creationId xmlns:p14="http://schemas.microsoft.com/office/powerpoint/2010/main" val="2279563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FBE3D-6C5F-ECCF-858A-A8AA2EA9BB1E}"/>
              </a:ext>
            </a:extLst>
          </p:cNvPr>
          <p:cNvSpPr>
            <a:spLocks noGrp="1"/>
          </p:cNvSpPr>
          <p:nvPr>
            <p:ph type="title"/>
          </p:nvPr>
        </p:nvSpPr>
        <p:spPr>
          <a:xfrm>
            <a:off x="208733" y="137541"/>
            <a:ext cx="8570617" cy="825351"/>
          </a:xfrm>
        </p:spPr>
        <p:txBody>
          <a:bodyPr/>
          <a:lstStyle/>
          <a:p>
            <a:r>
              <a:rPr lang="en-US" dirty="0"/>
              <a:t>Post Approval Company Model</a:t>
            </a:r>
          </a:p>
        </p:txBody>
      </p:sp>
      <p:sp>
        <p:nvSpPr>
          <p:cNvPr id="3" name="Content Placeholder 2">
            <a:extLst>
              <a:ext uri="{FF2B5EF4-FFF2-40B4-BE49-F238E27FC236}">
                <a16:creationId xmlns:a16="http://schemas.microsoft.com/office/drawing/2014/main" id="{A0A0FEEF-F5DB-CDDC-96C6-5A4301580A3D}"/>
              </a:ext>
            </a:extLst>
          </p:cNvPr>
          <p:cNvSpPr>
            <a:spLocks noGrp="1"/>
          </p:cNvSpPr>
          <p:nvPr>
            <p:ph sz="half" idx="1"/>
          </p:nvPr>
        </p:nvSpPr>
        <p:spPr>
          <a:xfrm>
            <a:off x="946671" y="4010895"/>
            <a:ext cx="4916246" cy="2552106"/>
          </a:xfrm>
        </p:spPr>
        <p:txBody>
          <a:bodyPr>
            <a:normAutofit/>
          </a:bodyPr>
          <a:lstStyle/>
          <a:p>
            <a:pPr marL="342900" indent="-342900">
              <a:buFont typeface="Arial" panose="020B0604020202020204" pitchFamily="34" charset="0"/>
              <a:buChar char="•"/>
            </a:pPr>
            <a:r>
              <a:rPr lang="en-US" dirty="0"/>
              <a:t>Based on drug comparison </a:t>
            </a:r>
          </a:p>
          <a:p>
            <a:pPr marL="342900" indent="-342900">
              <a:buFont typeface="Arial" panose="020B0604020202020204" pitchFamily="34" charset="0"/>
              <a:buChar char="•"/>
            </a:pPr>
            <a:r>
              <a:rPr lang="en-US" dirty="0"/>
              <a:t>Post launch for </a:t>
            </a:r>
            <a:r>
              <a:rPr lang="en-US" dirty="0" err="1"/>
              <a:t>Obefazimod</a:t>
            </a:r>
            <a:r>
              <a:rPr lang="en-US" dirty="0"/>
              <a:t> if approved in 2</a:t>
            </a:r>
            <a:r>
              <a:rPr lang="en-US" baseline="30000" dirty="0"/>
              <a:t>nd</a:t>
            </a:r>
            <a:r>
              <a:rPr lang="en-US" dirty="0"/>
              <a:t> quarter of 2026</a:t>
            </a:r>
          </a:p>
          <a:p>
            <a:pPr marL="342900" indent="-342900">
              <a:buFont typeface="Arial" panose="020B0604020202020204" pitchFamily="34" charset="0"/>
              <a:buChar char="•"/>
            </a:pPr>
            <a:r>
              <a:rPr lang="en-US" dirty="0"/>
              <a:t> Very rough estimates here</a:t>
            </a:r>
          </a:p>
          <a:p>
            <a:pPr marL="342900" indent="-342900">
              <a:buFont typeface="Arial" panose="020B0604020202020204" pitchFamily="34" charset="0"/>
              <a:buChar char="•"/>
            </a:pPr>
            <a:r>
              <a:rPr lang="en-US" dirty="0"/>
              <a:t>Need more time to pinpoint… Just an idea of what the launch would modestly look like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7497A387-13D2-2FE5-F95F-B95DEEBBFC64}"/>
              </a:ext>
            </a:extLst>
          </p:cNvPr>
          <p:cNvSpPr>
            <a:spLocks noGrp="1"/>
          </p:cNvSpPr>
          <p:nvPr>
            <p:ph type="sldNum" sz="quarter" idx="12"/>
          </p:nvPr>
        </p:nvSpPr>
        <p:spPr/>
        <p:txBody>
          <a:bodyPr/>
          <a:lstStyle/>
          <a:p>
            <a:fld id="{CBD12358-51D2-46B3-9BDE-DF29528B9454}" type="slidenum">
              <a:rPr lang="en-US" smtClean="0"/>
              <a:t>11</a:t>
            </a:fld>
            <a:endParaRPr lang="en-US" dirty="0"/>
          </a:p>
        </p:txBody>
      </p:sp>
      <p:pic>
        <p:nvPicPr>
          <p:cNvPr id="7" name="Picture 6">
            <a:extLst>
              <a:ext uri="{FF2B5EF4-FFF2-40B4-BE49-F238E27FC236}">
                <a16:creationId xmlns:a16="http://schemas.microsoft.com/office/drawing/2014/main" id="{4A8EF75E-9350-68FD-6A22-0A973E0EF322}"/>
              </a:ext>
            </a:extLst>
          </p:cNvPr>
          <p:cNvPicPr>
            <a:picLocks noChangeAspect="1"/>
          </p:cNvPicPr>
          <p:nvPr/>
        </p:nvPicPr>
        <p:blipFill>
          <a:blip r:embed="rId2"/>
          <a:stretch>
            <a:fillRect/>
          </a:stretch>
        </p:blipFill>
        <p:spPr>
          <a:xfrm>
            <a:off x="208733" y="1553940"/>
            <a:ext cx="11774533" cy="2404658"/>
          </a:xfrm>
          <a:prstGeom prst="rect">
            <a:avLst/>
          </a:prstGeom>
        </p:spPr>
      </p:pic>
      <p:pic>
        <p:nvPicPr>
          <p:cNvPr id="9" name="Picture 8">
            <a:extLst>
              <a:ext uri="{FF2B5EF4-FFF2-40B4-BE49-F238E27FC236}">
                <a16:creationId xmlns:a16="http://schemas.microsoft.com/office/drawing/2014/main" id="{D0B0ABBB-5342-C23F-45BF-156EE0B0D7C7}"/>
              </a:ext>
            </a:extLst>
          </p:cNvPr>
          <p:cNvPicPr>
            <a:picLocks noChangeAspect="1"/>
          </p:cNvPicPr>
          <p:nvPr/>
        </p:nvPicPr>
        <p:blipFill>
          <a:blip r:embed="rId3"/>
          <a:stretch>
            <a:fillRect/>
          </a:stretch>
        </p:blipFill>
        <p:spPr>
          <a:xfrm>
            <a:off x="6828334" y="3990876"/>
            <a:ext cx="3591426" cy="2686425"/>
          </a:xfrm>
          <a:prstGeom prst="rect">
            <a:avLst/>
          </a:prstGeom>
        </p:spPr>
      </p:pic>
    </p:spTree>
    <p:extLst>
      <p:ext uri="{BB962C8B-B14F-4D97-AF65-F5344CB8AC3E}">
        <p14:creationId xmlns:p14="http://schemas.microsoft.com/office/powerpoint/2010/main" val="1572886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C5017-98BF-BA7B-5967-078F850BFFB2}"/>
              </a:ext>
            </a:extLst>
          </p:cNvPr>
          <p:cNvSpPr>
            <a:spLocks noGrp="1"/>
          </p:cNvSpPr>
          <p:nvPr>
            <p:ph type="title"/>
          </p:nvPr>
        </p:nvSpPr>
        <p:spPr>
          <a:xfrm>
            <a:off x="455049" y="271630"/>
            <a:ext cx="10506456" cy="935915"/>
          </a:xfrm>
        </p:spPr>
        <p:txBody>
          <a:bodyPr/>
          <a:lstStyle/>
          <a:p>
            <a:r>
              <a:rPr lang="en-US" dirty="0"/>
              <a:t>Where Data Science Steps In</a:t>
            </a:r>
          </a:p>
        </p:txBody>
      </p:sp>
      <p:sp>
        <p:nvSpPr>
          <p:cNvPr id="4" name="Content Placeholder 3">
            <a:extLst>
              <a:ext uri="{FF2B5EF4-FFF2-40B4-BE49-F238E27FC236}">
                <a16:creationId xmlns:a16="http://schemas.microsoft.com/office/drawing/2014/main" id="{F199408D-4746-E466-972B-C26C407C7662}"/>
              </a:ext>
            </a:extLst>
          </p:cNvPr>
          <p:cNvSpPr>
            <a:spLocks noGrp="1"/>
          </p:cNvSpPr>
          <p:nvPr>
            <p:ph sz="half" idx="2"/>
          </p:nvPr>
        </p:nvSpPr>
        <p:spPr>
          <a:xfrm>
            <a:off x="767558" y="1331259"/>
            <a:ext cx="10302598" cy="5460342"/>
          </a:xfrm>
        </p:spPr>
        <p:txBody>
          <a:bodyPr>
            <a:normAutofit fontScale="77500" lnSpcReduction="20000"/>
          </a:bodyPr>
          <a:lstStyle/>
          <a:p>
            <a:pPr marL="342900" indent="-342900">
              <a:buFont typeface="Arial" panose="020B0604020202020204" pitchFamily="34" charset="0"/>
              <a:buChar char="•"/>
            </a:pPr>
            <a:r>
              <a:rPr lang="en-US" sz="4000" dirty="0"/>
              <a:t>Hopefully, this gives an idea of how you can</a:t>
            </a:r>
            <a:r>
              <a:rPr lang="en-US" sz="4000" b="1" dirty="0"/>
              <a:t> use data science to model clinical success probabilities</a:t>
            </a:r>
          </a:p>
          <a:p>
            <a:pPr marL="342900" indent="-342900">
              <a:buFont typeface="Arial" panose="020B0604020202020204" pitchFamily="34" charset="0"/>
              <a:buChar char="•"/>
            </a:pPr>
            <a:r>
              <a:rPr lang="en-US" sz="4000" dirty="0"/>
              <a:t>This provides the investor an idea of the risks and </a:t>
            </a:r>
            <a:r>
              <a:rPr lang="en-US" sz="4000" b="1" dirty="0"/>
              <a:t>potential </a:t>
            </a:r>
            <a:r>
              <a:rPr lang="en-US" sz="4000" b="1" dirty="0" err="1"/>
              <a:t>npv</a:t>
            </a:r>
            <a:endParaRPr lang="en-US" sz="4000" b="1" dirty="0"/>
          </a:p>
          <a:p>
            <a:pPr marL="342900" indent="-342900">
              <a:buFont typeface="Arial" panose="020B0604020202020204" pitchFamily="34" charset="0"/>
              <a:buChar char="•"/>
            </a:pPr>
            <a:r>
              <a:rPr lang="en-US" sz="4000" dirty="0"/>
              <a:t>Cash flows for company </a:t>
            </a:r>
            <a:r>
              <a:rPr lang="en-US" sz="4000" b="1" dirty="0"/>
              <a:t>dependent on approval </a:t>
            </a:r>
            <a:r>
              <a:rPr lang="en-US" sz="4000" dirty="0"/>
              <a:t>of data</a:t>
            </a:r>
          </a:p>
          <a:p>
            <a:pPr marL="342900" indent="-342900">
              <a:buFont typeface="Arial" panose="020B0604020202020204" pitchFamily="34" charset="0"/>
              <a:buChar char="•"/>
            </a:pPr>
            <a:r>
              <a:rPr lang="en-US" sz="4000" dirty="0"/>
              <a:t>So based on </a:t>
            </a:r>
            <a:r>
              <a:rPr lang="en-US" sz="4000" b="1" dirty="0"/>
              <a:t>data science modeling</a:t>
            </a:r>
            <a:r>
              <a:rPr lang="en-US" sz="4000" dirty="0"/>
              <a:t>, equity evaluators can project the </a:t>
            </a:r>
            <a:r>
              <a:rPr lang="en-US" sz="4000" b="1" dirty="0"/>
              <a:t>probability of success of a clinical trial</a:t>
            </a:r>
          </a:p>
          <a:p>
            <a:pPr marL="342900" indent="-342900">
              <a:buFont typeface="Arial" panose="020B0604020202020204" pitchFamily="34" charset="0"/>
              <a:buChar char="•"/>
            </a:pPr>
            <a:r>
              <a:rPr lang="en-US" sz="4000" dirty="0"/>
              <a:t>Then assess the financial situation of the company and determine if the risk to reward is worth the investment</a:t>
            </a:r>
          </a:p>
          <a:p>
            <a:pPr marL="342900" indent="-342900">
              <a:buFont typeface="Arial" panose="020B0604020202020204" pitchFamily="34" charset="0"/>
              <a:buChar char="•"/>
            </a:pPr>
            <a:r>
              <a:rPr lang="en-US" sz="4000" dirty="0"/>
              <a:t>Giving </a:t>
            </a:r>
            <a:r>
              <a:rPr lang="en-US" sz="4000" b="1" dirty="0"/>
              <a:t>equity evaluators a clear guideline for drug discovery</a:t>
            </a:r>
          </a:p>
          <a:p>
            <a:pPr marL="342900" indent="-342900">
              <a:buFont typeface="Arial" panose="020B0604020202020204" pitchFamily="34" charset="0"/>
              <a:buChar char="•"/>
            </a:pPr>
            <a:r>
              <a:rPr lang="en-US" sz="4000" b="1" dirty="0"/>
              <a:t>Currently working on  model for the UC trial </a:t>
            </a:r>
            <a:r>
              <a:rPr lang="en-US" sz="4000" dirty="0"/>
              <a:t>was hoping I would finish in time, but I have not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8C28F350-4084-7960-FFDD-971F74EA5B1A}"/>
              </a:ext>
            </a:extLst>
          </p:cNvPr>
          <p:cNvSpPr>
            <a:spLocks noGrp="1"/>
          </p:cNvSpPr>
          <p:nvPr>
            <p:ph type="sldNum" sz="quarter" idx="12"/>
          </p:nvPr>
        </p:nvSpPr>
        <p:spPr/>
        <p:txBody>
          <a:bodyPr/>
          <a:lstStyle/>
          <a:p>
            <a:fld id="{CBD12358-51D2-46B3-9BDE-DF29528B9454}" type="slidenum">
              <a:rPr lang="en-US" smtClean="0"/>
              <a:t>12</a:t>
            </a:fld>
            <a:endParaRPr lang="en-US" dirty="0"/>
          </a:p>
        </p:txBody>
      </p:sp>
    </p:spTree>
    <p:extLst>
      <p:ext uri="{BB962C8B-B14F-4D97-AF65-F5344CB8AC3E}">
        <p14:creationId xmlns:p14="http://schemas.microsoft.com/office/powerpoint/2010/main" val="2762945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0" y="2607371"/>
            <a:ext cx="6422315" cy="1643257"/>
          </a:xfrm>
          <a:noFill/>
        </p:spPr>
        <p:txBody>
          <a:bodyPr anchor="b">
            <a:noAutofit/>
          </a:bodyPr>
          <a:lstStyle/>
          <a:p>
            <a:r>
              <a:rPr lang="en-US" sz="5400" dirty="0"/>
              <a:t>Thank You For Listening</a:t>
            </a:r>
            <a:br>
              <a:rPr lang="en-US" sz="5400" dirty="0"/>
            </a:br>
            <a:endParaRPr lang="en-US" sz="5400" dirty="0"/>
          </a:p>
        </p:txBody>
      </p:sp>
      <p:sp>
        <p:nvSpPr>
          <p:cNvPr id="6" name="Content Placeholder 5">
            <a:extLst>
              <a:ext uri="{FF2B5EF4-FFF2-40B4-BE49-F238E27FC236}">
                <a16:creationId xmlns:a16="http://schemas.microsoft.com/office/drawing/2014/main" id="{54D0A6B8-78EB-52CA-3D46-A46FC880D386}"/>
              </a:ext>
            </a:extLst>
          </p:cNvPr>
          <p:cNvSpPr>
            <a:spLocks noGrp="1"/>
          </p:cNvSpPr>
          <p:nvPr>
            <p:ph type="subTitle" idx="1"/>
          </p:nvPr>
        </p:nvSpPr>
        <p:spPr>
          <a:xfrm>
            <a:off x="111878" y="3515088"/>
            <a:ext cx="6633167" cy="2743200"/>
          </a:xfrm>
          <a:noFill/>
        </p:spPr>
        <p:txBody>
          <a:bodyPr vert="horz" lIns="91440" tIns="45720" rIns="91440" bIns="45720" rtlCol="0" anchor="t" anchorCtr="0">
            <a:normAutofit/>
          </a:bodyPr>
          <a:lstStyle/>
          <a:p>
            <a:r>
              <a:rPr lang="en-US" noProof="0" dirty="0"/>
              <a:t>Contact Info:</a:t>
            </a:r>
          </a:p>
          <a:p>
            <a:r>
              <a:rPr lang="en-US" noProof="0" dirty="0"/>
              <a:t>Nicholas Alexander Jones</a:t>
            </a:r>
          </a:p>
          <a:p>
            <a:r>
              <a:rPr lang="en-US" dirty="0"/>
              <a:t>nickjones@smu.edu</a:t>
            </a:r>
          </a:p>
          <a:p>
            <a:r>
              <a:rPr lang="en-US" dirty="0"/>
              <a:t>SMU MSDS student</a:t>
            </a:r>
          </a:p>
        </p:txBody>
      </p:sp>
    </p:spTree>
    <p:extLst>
      <p:ext uri="{BB962C8B-B14F-4D97-AF65-F5344CB8AC3E}">
        <p14:creationId xmlns:p14="http://schemas.microsoft.com/office/powerpoint/2010/main" val="3751616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042FF-E14C-011D-52EF-56084C97504D}"/>
              </a:ext>
            </a:extLst>
          </p:cNvPr>
          <p:cNvSpPr>
            <a:spLocks noGrp="1"/>
          </p:cNvSpPr>
          <p:nvPr>
            <p:ph type="ctrTitle"/>
          </p:nvPr>
        </p:nvSpPr>
        <p:spPr>
          <a:xfrm>
            <a:off x="1133856" y="56450"/>
            <a:ext cx="7461504" cy="947804"/>
          </a:xfrm>
        </p:spPr>
        <p:txBody>
          <a:bodyPr/>
          <a:lstStyle/>
          <a:p>
            <a:r>
              <a:rPr lang="en-US" dirty="0"/>
              <a:t>Citations</a:t>
            </a:r>
          </a:p>
        </p:txBody>
      </p:sp>
      <p:sp>
        <p:nvSpPr>
          <p:cNvPr id="3" name="Subtitle 2">
            <a:extLst>
              <a:ext uri="{FF2B5EF4-FFF2-40B4-BE49-F238E27FC236}">
                <a16:creationId xmlns:a16="http://schemas.microsoft.com/office/drawing/2014/main" id="{0DA3C640-B9E7-B6FA-8601-B6B704133AB6}"/>
              </a:ext>
            </a:extLst>
          </p:cNvPr>
          <p:cNvSpPr>
            <a:spLocks noGrp="1"/>
          </p:cNvSpPr>
          <p:nvPr>
            <p:ph type="subTitle" idx="1"/>
          </p:nvPr>
        </p:nvSpPr>
        <p:spPr>
          <a:xfrm>
            <a:off x="228600" y="1118795"/>
            <a:ext cx="6828416" cy="4797911"/>
          </a:xfrm>
        </p:spPr>
        <p:txBody>
          <a:bodyPr/>
          <a:lstStyle/>
          <a:p>
            <a:pPr marL="342900" indent="-342900">
              <a:buFont typeface="Arial" panose="020B0604020202020204" pitchFamily="34" charset="0"/>
              <a:buChar char="•"/>
            </a:pPr>
            <a:r>
              <a:rPr lang="en-US" sz="1600" dirty="0">
                <a:hlinkClick r:id="rId2"/>
              </a:rPr>
              <a:t>https://ir.abivax.com/financial-information/sec-filings</a:t>
            </a:r>
            <a:endParaRPr lang="en-US" sz="1600" dirty="0"/>
          </a:p>
          <a:p>
            <a:pPr marL="342900" indent="-342900">
              <a:buFont typeface="Arial" panose="020B0604020202020204" pitchFamily="34" charset="0"/>
              <a:buChar char="•"/>
            </a:pPr>
            <a:r>
              <a:rPr lang="en-US" sz="1600" dirty="0">
                <a:hlinkClick r:id="rId3"/>
              </a:rPr>
              <a:t>https://pmc.ncbi.nlm.nih.gov/articles/PMC11510778/#sec2-pharmaceutics-16-01328</a:t>
            </a:r>
            <a:endParaRPr lang="en-US" sz="1600" dirty="0"/>
          </a:p>
          <a:p>
            <a:pPr marL="342900" indent="-342900">
              <a:buFont typeface="Arial" panose="020B0604020202020204" pitchFamily="34" charset="0"/>
              <a:buChar char="•"/>
            </a:pPr>
            <a:r>
              <a:rPr lang="en-US" sz="1600" dirty="0">
                <a:hlinkClick r:id="rId4"/>
              </a:rPr>
              <a:t>https://www.sciencedirect.com/science/article/pii/S1359644620305377</a:t>
            </a:r>
            <a:endParaRPr lang="en-US" sz="1600" dirty="0"/>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422168066"/>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C07E3D-60A7-4F4E-8208-D9CCD01982CB}">
  <ds:schemaRefs>
    <ds:schemaRef ds:uri="http://schemas.microsoft.com/sharepoint/v3/contenttype/forms"/>
  </ds:schemaRefs>
</ds:datastoreItem>
</file>

<file path=customXml/itemProps2.xml><?xml version="1.0" encoding="utf-8"?>
<ds:datastoreItem xmlns:ds="http://schemas.openxmlformats.org/officeDocument/2006/customXml" ds:itemID="{CEA9B47F-3DD8-4645-81DC-B88780643C07}">
  <ds:schemaRefs>
    <ds:schemaRef ds:uri="http://purl.org/dc/dcmitype/"/>
    <ds:schemaRef ds:uri="http://www.w3.org/XML/1998/namespace"/>
    <ds:schemaRef ds:uri="http://purl.org/dc/elements/1.1/"/>
    <ds:schemaRef ds:uri="http://schemas.openxmlformats.org/package/2006/metadata/core-properties"/>
    <ds:schemaRef ds:uri="http://purl.org/dc/terms/"/>
    <ds:schemaRef ds:uri="16c05727-aa75-4e4a-9b5f-8a80a1165891"/>
    <ds:schemaRef ds:uri="http://schemas.microsoft.com/office/infopath/2007/PartnerControls"/>
    <ds:schemaRef ds:uri="http://schemas.microsoft.com/office/2006/metadata/properties"/>
    <ds:schemaRef ds:uri="71af3243-3dd4-4a8d-8c0d-dd76da1f02a5"/>
    <ds:schemaRef ds:uri="http://schemas.microsoft.com/office/2006/documentManagement/types"/>
    <ds:schemaRef ds:uri="230e9df3-be65-4c73-a93b-d1236ebd677e"/>
    <ds:schemaRef ds:uri="http://schemas.microsoft.com/sharepoint/v3"/>
  </ds:schemaRefs>
</ds:datastoreItem>
</file>

<file path=customXml/itemProps3.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25663</TotalTime>
  <Words>1067</Words>
  <Application>Microsoft Office PowerPoint</Application>
  <PresentationFormat>Widescreen</PresentationFormat>
  <Paragraphs>96</Paragraphs>
  <Slides>14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Custom</vt:lpstr>
      <vt:lpstr>Using Data Science in Biotech and Drug Discovery</vt:lpstr>
      <vt:lpstr>Why I chose this topic</vt:lpstr>
      <vt:lpstr>What is Biotech</vt:lpstr>
      <vt:lpstr>How Do Clinical Trials Work?</vt:lpstr>
      <vt:lpstr>Data Science in Drug Discovery, Development and Patient Treatment (Literature Review)</vt:lpstr>
      <vt:lpstr>Data Science in Biotech Equity Evaluation </vt:lpstr>
      <vt:lpstr>Synergy of Accurate Equity Evaluation and Successful Drug Projection Models In Enhancing Clinical Outcomes</vt:lpstr>
      <vt:lpstr>Example of Equity Evaluation: Where Data Science Steps In</vt:lpstr>
      <vt:lpstr>Abivax Overview</vt:lpstr>
      <vt:lpstr>ABVX: Pre- Revenue</vt:lpstr>
      <vt:lpstr>Post Approval Company Model</vt:lpstr>
      <vt:lpstr>Where Data Science Steps In</vt:lpstr>
      <vt:lpstr>Thank You For Listening </vt:lpstr>
      <vt:lpstr>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Jones</dc:creator>
  <cp:lastModifiedBy>Nicholas Jones</cp:lastModifiedBy>
  <cp:revision>5</cp:revision>
  <dcterms:created xsi:type="dcterms:W3CDTF">2025-10-10T19:10:18Z</dcterms:created>
  <dcterms:modified xsi:type="dcterms:W3CDTF">2025-10-31T16:23:48Z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